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6" r:id="rId26"/>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63"/>
  </p:normalViewPr>
  <p:slideViewPr>
    <p:cSldViewPr snapToGrid="0" snapToObjects="1">
      <p:cViewPr varScale="1">
        <p:scale>
          <a:sx n="117" d="100"/>
          <a:sy n="117" d="100"/>
        </p:scale>
        <p:origin x="3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B254F-4D35-264F-9A18-8492408820B2}" type="datetimeFigureOut">
              <a:rPr lang="en-LB" smtClean="0"/>
              <a:t>21/08/2026</a:t>
            </a:fld>
            <a:endParaRPr lang="en-L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495BB-4744-DC44-B8BC-0137381C4A0C}" type="slidenum">
              <a:rPr lang="en-LB" smtClean="0"/>
              <a:t>‹#›</a:t>
            </a:fld>
            <a:endParaRPr lang="en-LB"/>
          </a:p>
        </p:txBody>
      </p:sp>
    </p:spTree>
    <p:extLst>
      <p:ext uri="{BB962C8B-B14F-4D97-AF65-F5344CB8AC3E}">
        <p14:creationId xmlns:p14="http://schemas.microsoft.com/office/powerpoint/2010/main" val="649422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B" dirty="0"/>
          </a:p>
        </p:txBody>
      </p:sp>
      <p:sp>
        <p:nvSpPr>
          <p:cNvPr id="4" name="Slide Number Placeholder 3"/>
          <p:cNvSpPr>
            <a:spLocks noGrp="1"/>
          </p:cNvSpPr>
          <p:nvPr>
            <p:ph type="sldNum" sz="quarter" idx="5"/>
          </p:nvPr>
        </p:nvSpPr>
        <p:spPr/>
        <p:txBody>
          <a:bodyPr/>
          <a:lstStyle/>
          <a:p>
            <a:fld id="{C14495BB-4744-DC44-B8BC-0137381C4A0C}" type="slidenum">
              <a:rPr lang="en-LB" smtClean="0"/>
              <a:t>17</a:t>
            </a:fld>
            <a:endParaRPr lang="en-LB"/>
          </a:p>
        </p:txBody>
      </p:sp>
    </p:spTree>
    <p:extLst>
      <p:ext uri="{BB962C8B-B14F-4D97-AF65-F5344CB8AC3E}">
        <p14:creationId xmlns:p14="http://schemas.microsoft.com/office/powerpoint/2010/main" val="3324096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972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1965960"/>
            <a:ext cx="1188720" cy="5080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421394"/>
            <a:ext cx="10515600" cy="1415772"/>
          </a:xfrm>
          <a:prstGeom prst="rect">
            <a:avLst/>
          </a:prstGeom>
          <a:noFill/>
        </p:spPr>
        <p:txBody>
          <a:bodyPr wrap="square" lIns="0" tIns="0" rIns="0" bIns="0" anchor="t">
            <a:spAutoFit/>
          </a:bodyPr>
          <a:lstStyle/>
          <a:p>
            <a:pPr algn="l">
              <a:lnSpc>
                <a:spcPct val="100000"/>
              </a:lnSpc>
              <a:spcAft>
                <a:spcPts val="0"/>
              </a:spcAft>
            </a:pPr>
            <a:r>
              <a:rPr lang="en-US" sz="4600" b="1" dirty="0">
                <a:solidFill>
                  <a:srgbClr val="F3F6F8"/>
                </a:solidFill>
                <a:latin typeface="Calibri"/>
              </a:rPr>
              <a:t>Servo</a:t>
            </a:r>
          </a:p>
          <a:p>
            <a:pPr algn="l">
              <a:lnSpc>
                <a:spcPct val="100000"/>
              </a:lnSpc>
              <a:spcAft>
                <a:spcPts val="0"/>
              </a:spcAft>
            </a:pPr>
            <a:endParaRPr sz="4600" b="1" dirty="0">
              <a:solidFill>
                <a:srgbClr val="33DDC2"/>
              </a:solidFill>
              <a:latin typeface="Calibri"/>
            </a:endParaRPr>
          </a:p>
        </p:txBody>
      </p:sp>
      <p:sp>
        <p:nvSpPr>
          <p:cNvPr id="6" name="TextBox 5"/>
          <p:cNvSpPr txBox="1"/>
          <p:nvPr/>
        </p:nvSpPr>
        <p:spPr>
          <a:xfrm>
            <a:off x="502920" y="3728720"/>
            <a:ext cx="10241280" cy="629852"/>
          </a:xfrm>
          <a:prstGeom prst="rect">
            <a:avLst/>
          </a:prstGeom>
          <a:noFill/>
        </p:spPr>
        <p:txBody>
          <a:bodyPr wrap="square" lIns="0" tIns="0" rIns="0" bIns="0" anchor="t">
            <a:spAutoFit/>
          </a:bodyPr>
          <a:lstStyle/>
          <a:p>
            <a:pPr algn="l">
              <a:lnSpc>
                <a:spcPct val="125000"/>
              </a:lnSpc>
              <a:spcAft>
                <a:spcPts val="0"/>
              </a:spcAft>
            </a:pPr>
            <a:r>
              <a:rPr sz="1700" b="0" dirty="0">
                <a:solidFill>
                  <a:srgbClr val="92A2B3"/>
                </a:solidFill>
                <a:latin typeface="Calibri"/>
              </a:rPr>
              <a:t>Robotics Multi-Agent Assistant</a:t>
            </a:r>
            <a:r>
              <a:rPr lang="en-US" sz="1700" b="0" dirty="0">
                <a:solidFill>
                  <a:srgbClr val="92A2B3"/>
                </a:solidFill>
                <a:latin typeface="Calibri"/>
              </a:rPr>
              <a:t>: </a:t>
            </a:r>
            <a:r>
              <a:rPr sz="1700" b="0" dirty="0">
                <a:solidFill>
                  <a:srgbClr val="92A2B3"/>
                </a:solidFill>
                <a:latin typeface="Calibri"/>
              </a:rPr>
              <a:t>a supervised team of AI specialists that takes a robotics idea from question to wiring plan to working code to a purchasable parts list.</a:t>
            </a:r>
          </a:p>
        </p:txBody>
      </p:sp>
      <p:sp>
        <p:nvSpPr>
          <p:cNvPr id="7" name="TextBox 6"/>
          <p:cNvSpPr txBox="1"/>
          <p:nvPr/>
        </p:nvSpPr>
        <p:spPr>
          <a:xfrm>
            <a:off x="502920" y="5989320"/>
            <a:ext cx="7315200" cy="365760"/>
          </a:xfrm>
          <a:prstGeom prst="rect">
            <a:avLst/>
          </a:prstGeom>
          <a:noFill/>
        </p:spPr>
        <p:txBody>
          <a:bodyPr wrap="square" lIns="0" tIns="0" rIns="0" bIns="0" anchor="t">
            <a:spAutoFit/>
          </a:bodyPr>
          <a:lstStyle/>
          <a:p>
            <a:pPr algn="l">
              <a:lnSpc>
                <a:spcPct val="100000"/>
              </a:lnSpc>
              <a:spcAft>
                <a:spcPts val="0"/>
              </a:spcAft>
            </a:pPr>
            <a:r>
              <a:rPr sz="1300" b="0">
                <a:solidFill>
                  <a:srgbClr val="92A2B3"/>
                </a:solidFill>
                <a:latin typeface="Calibri"/>
              </a:rPr>
              <a:t>LangGraph  ·  FastAPI  ·  React  ·  MCP + Qdrant  ·  AP2  ·  DigiKey  ·  Lithic</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Robotics Multi-Agent Assistant</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5"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1965960"/>
            <a:ext cx="1188720" cy="5080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421394"/>
            <a:ext cx="10515600" cy="1415772"/>
          </a:xfrm>
          <a:prstGeom prst="rect">
            <a:avLst/>
          </a:prstGeom>
          <a:noFill/>
        </p:spPr>
        <p:txBody>
          <a:bodyPr wrap="square" lIns="0" tIns="0" rIns="0" bIns="0" anchor="t">
            <a:spAutoFit/>
          </a:bodyPr>
          <a:lstStyle/>
          <a:p>
            <a:pPr algn="l">
              <a:lnSpc>
                <a:spcPct val="100000"/>
              </a:lnSpc>
              <a:spcAft>
                <a:spcPts val="0"/>
              </a:spcAft>
            </a:pPr>
            <a:r>
              <a:rPr lang="en-US" sz="4600" b="1" dirty="0">
                <a:solidFill>
                  <a:srgbClr val="F3F6F8"/>
                </a:solidFill>
                <a:latin typeface="Calibri"/>
              </a:rPr>
              <a:t>Purpose:</a:t>
            </a:r>
          </a:p>
          <a:p>
            <a:pPr algn="l">
              <a:lnSpc>
                <a:spcPct val="100000"/>
              </a:lnSpc>
              <a:spcAft>
                <a:spcPts val="0"/>
              </a:spcAft>
            </a:pPr>
            <a:endParaRPr sz="4600" b="1" dirty="0">
              <a:solidFill>
                <a:srgbClr val="33DDC2"/>
              </a:solidFill>
              <a:latin typeface="Calibri"/>
            </a:endParaRPr>
          </a:p>
        </p:txBody>
      </p:sp>
      <p:sp>
        <p:nvSpPr>
          <p:cNvPr id="6" name="TextBox 5"/>
          <p:cNvSpPr txBox="1"/>
          <p:nvPr/>
        </p:nvSpPr>
        <p:spPr>
          <a:xfrm>
            <a:off x="1950415" y="3731466"/>
            <a:ext cx="10241280" cy="302840"/>
          </a:xfrm>
          <a:prstGeom prst="rect">
            <a:avLst/>
          </a:prstGeom>
          <a:noFill/>
        </p:spPr>
        <p:txBody>
          <a:bodyPr wrap="square" lIns="0" tIns="0" rIns="0" bIns="0" anchor="t">
            <a:spAutoFit/>
          </a:bodyPr>
          <a:lstStyle/>
          <a:p>
            <a:pPr algn="l">
              <a:lnSpc>
                <a:spcPct val="125000"/>
              </a:lnSpc>
              <a:spcAft>
                <a:spcPts val="0"/>
              </a:spcAft>
            </a:pPr>
            <a:r>
              <a:rPr lang="en-US" sz="1600" dirty="0"/>
              <a:t>“</a:t>
            </a:r>
            <a:r>
              <a:rPr lang="en-US" sz="1700" dirty="0">
                <a:solidFill>
                  <a:srgbClr val="92A2B3"/>
                </a:solidFill>
                <a:latin typeface="Calibri"/>
              </a:rPr>
              <a:t>I wanted to reduce the distance between an idea… and a working robot.”</a:t>
            </a:r>
            <a:endParaRPr sz="1700" dirty="0">
              <a:solidFill>
                <a:srgbClr val="92A2B3"/>
              </a:solidFill>
              <a:latin typeface="Calibri"/>
            </a:endParaRPr>
          </a:p>
        </p:txBody>
      </p:sp>
      <p:sp>
        <p:nvSpPr>
          <p:cNvPr id="7" name="TextBox 6"/>
          <p:cNvSpPr txBox="1"/>
          <p:nvPr/>
        </p:nvSpPr>
        <p:spPr>
          <a:xfrm>
            <a:off x="502920" y="5989320"/>
            <a:ext cx="7315200" cy="365760"/>
          </a:xfrm>
          <a:prstGeom prst="rect">
            <a:avLst/>
          </a:prstGeom>
          <a:noFill/>
        </p:spPr>
        <p:txBody>
          <a:bodyPr wrap="square" lIns="0" tIns="0" rIns="0" bIns="0" anchor="t">
            <a:spAutoFit/>
          </a:bodyPr>
          <a:lstStyle/>
          <a:p>
            <a:pPr algn="l">
              <a:lnSpc>
                <a:spcPct val="100000"/>
              </a:lnSpc>
              <a:spcAft>
                <a:spcPts val="0"/>
              </a:spcAft>
            </a:pPr>
            <a:r>
              <a:rPr sz="1300" b="0">
                <a:solidFill>
                  <a:srgbClr val="92A2B3"/>
                </a:solidFill>
                <a:latin typeface="Calibri"/>
              </a:rPr>
              <a:t>LangGraph  ·  FastAPI  ·  React  ·  MCP + Qdrant  ·  AP2  ·  DigiKey  ·  Lithic</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Robotics Multi-Agent Assistant</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5167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THE IDEA</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One conversation, routed to the right expert automatically</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65960"/>
            <a:ext cx="10881360" cy="652743"/>
          </a:xfrm>
          <a:prstGeom prst="rect">
            <a:avLst/>
          </a:prstGeom>
          <a:noFill/>
        </p:spPr>
        <p:txBody>
          <a:bodyPr wrap="square" lIns="0" tIns="0" rIns="0" bIns="0" anchor="t">
            <a:spAutoFit/>
          </a:bodyPr>
          <a:lstStyle/>
          <a:p>
            <a:pPr algn="l">
              <a:lnSpc>
                <a:spcPct val="130000"/>
              </a:lnSpc>
              <a:spcAft>
                <a:spcPts val="0"/>
              </a:spcAft>
            </a:pPr>
            <a:r>
              <a:rPr sz="1700" b="0" dirty="0">
                <a:solidFill>
                  <a:srgbClr val="92A2B3"/>
                </a:solidFill>
                <a:latin typeface="Calibri"/>
              </a:rPr>
              <a:t>A </a:t>
            </a:r>
            <a:r>
              <a:rPr sz="1700" b="0" dirty="0" err="1">
                <a:solidFill>
                  <a:srgbClr val="92A2B3"/>
                </a:solidFill>
                <a:latin typeface="Calibri"/>
              </a:rPr>
              <a:t>LangGraph</a:t>
            </a:r>
            <a:r>
              <a:rPr sz="1700" b="0" dirty="0">
                <a:solidFill>
                  <a:srgbClr val="92A2B3"/>
                </a:solidFill>
                <a:latin typeface="Calibri"/>
              </a:rPr>
              <a:t> supervisor reads the request and hands it to the specialist built for that job and lets specialists hand off to each other inside the same thread.</a:t>
            </a:r>
          </a:p>
        </p:txBody>
      </p:sp>
      <p:sp>
        <p:nvSpPr>
          <p:cNvPr id="7" name="Rounded Rectangle 6"/>
          <p:cNvSpPr/>
          <p:nvPr/>
        </p:nvSpPr>
        <p:spPr>
          <a:xfrm>
            <a:off x="502920" y="3063240"/>
            <a:ext cx="2121408" cy="1554480"/>
          </a:xfrm>
          <a:prstGeom prst="roundRect">
            <a:avLst>
              <a:gd name="adj" fmla="val 12000"/>
            </a:avLst>
          </a:prstGeom>
          <a:solidFill>
            <a:srgbClr val="172435"/>
          </a:solidFill>
          <a:ln w="15875">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3063240"/>
            <a:ext cx="1938528" cy="155448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RAG Agent</a:t>
            </a:r>
          </a:p>
          <a:p>
            <a:pPr algn="ctr">
              <a:lnSpc>
                <a:spcPct val="100000"/>
              </a:lnSpc>
              <a:spcAft>
                <a:spcPts val="0"/>
              </a:spcAft>
            </a:pPr>
            <a:r>
              <a:rPr sz="1050" b="0">
                <a:solidFill>
                  <a:srgbClr val="92A2B3"/>
                </a:solidFill>
                <a:latin typeface="Calibri"/>
              </a:rPr>
              <a:t>Grounded Arduino &amp; robotics knowledge, MCP + Qdrant</a:t>
            </a:r>
          </a:p>
        </p:txBody>
      </p:sp>
      <p:sp>
        <p:nvSpPr>
          <p:cNvPr id="9" name="Rounded Rectangle 8"/>
          <p:cNvSpPr/>
          <p:nvPr/>
        </p:nvSpPr>
        <p:spPr>
          <a:xfrm>
            <a:off x="2752344" y="3063240"/>
            <a:ext cx="2121408" cy="1554480"/>
          </a:xfrm>
          <a:prstGeom prst="roundRect">
            <a:avLst>
              <a:gd name="adj" fmla="val 12000"/>
            </a:avLst>
          </a:prstGeom>
          <a:solidFill>
            <a:srgbClr val="172435"/>
          </a:solidFill>
          <a:ln w="15875">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43784" y="3063240"/>
            <a:ext cx="1938528" cy="155448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Wiring Agent</a:t>
            </a:r>
          </a:p>
          <a:p>
            <a:pPr algn="ctr">
              <a:lnSpc>
                <a:spcPct val="100000"/>
              </a:lnSpc>
              <a:spcAft>
                <a:spcPts val="0"/>
              </a:spcAft>
            </a:pPr>
            <a:r>
              <a:rPr sz="1050" b="0">
                <a:solidFill>
                  <a:srgbClr val="92A2B3"/>
                </a:solidFill>
                <a:latin typeface="Calibri"/>
              </a:rPr>
              <a:t>Deterministic pin planning and validation</a:t>
            </a:r>
          </a:p>
        </p:txBody>
      </p:sp>
      <p:sp>
        <p:nvSpPr>
          <p:cNvPr id="11" name="Rounded Rectangle 10"/>
          <p:cNvSpPr/>
          <p:nvPr/>
        </p:nvSpPr>
        <p:spPr>
          <a:xfrm>
            <a:off x="5001768" y="3063240"/>
            <a:ext cx="2121408" cy="1554480"/>
          </a:xfrm>
          <a:prstGeom prst="roundRect">
            <a:avLst>
              <a:gd name="adj" fmla="val 12000"/>
            </a:avLst>
          </a:prstGeom>
          <a:solidFill>
            <a:srgbClr val="172435"/>
          </a:solidFill>
          <a:ln w="15875">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93208" y="3063240"/>
            <a:ext cx="1938528" cy="155448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Coding Agent</a:t>
            </a:r>
          </a:p>
          <a:p>
            <a:pPr algn="ctr">
              <a:lnSpc>
                <a:spcPct val="100000"/>
              </a:lnSpc>
              <a:spcAft>
                <a:spcPts val="0"/>
              </a:spcAft>
            </a:pPr>
            <a:r>
              <a:rPr sz="1050" b="0">
                <a:solidFill>
                  <a:srgbClr val="92A2B3"/>
                </a:solidFill>
                <a:latin typeface="Calibri"/>
              </a:rPr>
              <a:t>Generates &amp; validates Arduino / Python sketches</a:t>
            </a:r>
          </a:p>
        </p:txBody>
      </p:sp>
      <p:sp>
        <p:nvSpPr>
          <p:cNvPr id="13" name="Rounded Rectangle 12"/>
          <p:cNvSpPr/>
          <p:nvPr/>
        </p:nvSpPr>
        <p:spPr>
          <a:xfrm>
            <a:off x="7251192" y="3063240"/>
            <a:ext cx="2121408" cy="1554480"/>
          </a:xfrm>
          <a:prstGeom prst="roundRect">
            <a:avLst>
              <a:gd name="adj" fmla="val 12000"/>
            </a:avLst>
          </a:prstGeom>
          <a:solidFill>
            <a:srgbClr val="172435"/>
          </a:solidFill>
          <a:ln w="15875">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42632" y="3063240"/>
            <a:ext cx="1938528" cy="155448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Visualization Agent</a:t>
            </a:r>
          </a:p>
          <a:p>
            <a:pPr algn="ctr">
              <a:lnSpc>
                <a:spcPct val="100000"/>
              </a:lnSpc>
              <a:spcAft>
                <a:spcPts val="0"/>
              </a:spcAft>
            </a:pPr>
            <a:r>
              <a:rPr sz="1050" b="0">
                <a:solidFill>
                  <a:srgbClr val="92A2B3"/>
                </a:solidFill>
                <a:latin typeface="Calibri"/>
              </a:rPr>
              <a:t>OpenSCAD robot models + rendered previews</a:t>
            </a:r>
          </a:p>
        </p:txBody>
      </p:sp>
      <p:sp>
        <p:nvSpPr>
          <p:cNvPr id="15" name="Rounded Rectangle 14"/>
          <p:cNvSpPr/>
          <p:nvPr/>
        </p:nvSpPr>
        <p:spPr>
          <a:xfrm>
            <a:off x="9500616" y="3063240"/>
            <a:ext cx="2121408" cy="1554480"/>
          </a:xfrm>
          <a:prstGeom prst="roundRect">
            <a:avLst>
              <a:gd name="adj" fmla="val 12000"/>
            </a:avLst>
          </a:prstGeom>
          <a:solidFill>
            <a:srgbClr val="172435"/>
          </a:solidFill>
          <a:ln w="15875">
            <a:solidFill>
              <a:srgbClr val="F5A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92056" y="3063240"/>
            <a:ext cx="1938528" cy="155448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Component Manager</a:t>
            </a:r>
          </a:p>
          <a:p>
            <a:pPr algn="ctr">
              <a:lnSpc>
                <a:spcPct val="100000"/>
              </a:lnSpc>
              <a:spcAft>
                <a:spcPts val="0"/>
              </a:spcAft>
            </a:pPr>
            <a:r>
              <a:rPr sz="1050" b="0">
                <a:solidFill>
                  <a:srgbClr val="92A2B3"/>
                </a:solidFill>
                <a:latin typeface="Calibri"/>
              </a:rPr>
              <a:t>DigiKey sourcing, proposals &amp; purchasing</a:t>
            </a:r>
          </a:p>
        </p:txBody>
      </p:sp>
      <p:sp>
        <p:nvSpPr>
          <p:cNvPr id="17" name="TextBox 16"/>
          <p:cNvSpPr txBox="1"/>
          <p:nvPr/>
        </p:nvSpPr>
        <p:spPr>
          <a:xfrm>
            <a:off x="502920" y="4892040"/>
            <a:ext cx="10881360" cy="1188720"/>
          </a:xfrm>
          <a:prstGeom prst="rect">
            <a:avLst/>
          </a:prstGeom>
          <a:noFill/>
        </p:spPr>
        <p:txBody>
          <a:bodyPr wrap="square" lIns="0" tIns="0" rIns="0" bIns="0" anchor="t">
            <a:spAutoFit/>
          </a:bodyPr>
          <a:lstStyle/>
          <a:p>
            <a:pPr algn="l">
              <a:lnSpc>
                <a:spcPct val="130000"/>
              </a:lnSpc>
              <a:spcAft>
                <a:spcPts val="0"/>
              </a:spcAft>
            </a:pPr>
            <a:r>
              <a:rPr sz="1500" b="0">
                <a:solidFill>
                  <a:srgbClr val="92A2B3"/>
                </a:solidFill>
                <a:latin typeface="Calibri"/>
              </a:rPr>
              <a:t>Every specialist keeps its own narrow toolset; the supervisor keeps the plan coherent, and a human approves anything that writes files, renders, or spends money.</a:t>
            </a:r>
          </a:p>
        </p:txBody>
      </p:sp>
      <p:sp>
        <p:nvSpPr>
          <p:cNvPr id="18" name="TextBox 1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Pitch</a:t>
            </a:r>
          </a:p>
        </p:txBody>
      </p:sp>
      <p:sp>
        <p:nvSpPr>
          <p:cNvPr id="19" name="TextBox 1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3</a:t>
            </a:r>
          </a:p>
        </p:txBody>
      </p:sp>
      <p:cxnSp>
        <p:nvCxnSpPr>
          <p:cNvPr id="20" name="Connector 1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WHO IT’S FOR</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Built for people who learn robotics by building it</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2103120"/>
            <a:ext cx="3611880" cy="338328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2423160"/>
            <a:ext cx="548640" cy="548640"/>
          </a:xfrm>
          <a:prstGeom prst="ellipse">
            <a:avLst/>
          </a:prstGeom>
          <a:noFill/>
          <a:ln w="2540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423160"/>
            <a:ext cx="548640" cy="548640"/>
          </a:xfrm>
          <a:prstGeom prst="rect">
            <a:avLst/>
          </a:prstGeom>
          <a:noFill/>
        </p:spPr>
        <p:txBody>
          <a:bodyPr wrap="square" lIns="0" tIns="0" rIns="0" bIns="0" anchor="ctr">
            <a:spAutoFit/>
          </a:bodyPr>
          <a:lstStyle/>
          <a:p>
            <a:pPr algn="ctr">
              <a:lnSpc>
                <a:spcPct val="100000"/>
              </a:lnSpc>
              <a:spcAft>
                <a:spcPts val="0"/>
              </a:spcAft>
            </a:pPr>
            <a:r>
              <a:rPr sz="2000" b="1">
                <a:solidFill>
                  <a:srgbClr val="33DDC2"/>
                </a:solidFill>
                <a:latin typeface="Calibri"/>
              </a:rPr>
              <a:t>1</a:t>
            </a:r>
          </a:p>
        </p:txBody>
      </p:sp>
      <p:sp>
        <p:nvSpPr>
          <p:cNvPr id="9" name="TextBox 8"/>
          <p:cNvSpPr txBox="1"/>
          <p:nvPr/>
        </p:nvSpPr>
        <p:spPr>
          <a:xfrm>
            <a:off x="822960" y="3246120"/>
            <a:ext cx="2971800" cy="731520"/>
          </a:xfrm>
          <a:prstGeom prst="rect">
            <a:avLst/>
          </a:prstGeom>
          <a:noFill/>
        </p:spPr>
        <p:txBody>
          <a:bodyPr wrap="square" lIns="0" tIns="0" rIns="0" bIns="0" anchor="t">
            <a:spAutoFit/>
          </a:bodyPr>
          <a:lstStyle/>
          <a:p>
            <a:pPr algn="l">
              <a:lnSpc>
                <a:spcPct val="115000"/>
              </a:lnSpc>
              <a:spcAft>
                <a:spcPts val="0"/>
              </a:spcAft>
            </a:pPr>
            <a:r>
              <a:rPr sz="1800" b="1">
                <a:solidFill>
                  <a:srgbClr val="F3F6F8"/>
                </a:solidFill>
                <a:latin typeface="Calibri"/>
              </a:rPr>
              <a:t>Hobbyist makers &amp; students</a:t>
            </a:r>
          </a:p>
        </p:txBody>
      </p:sp>
      <p:sp>
        <p:nvSpPr>
          <p:cNvPr id="10" name="TextBox 9"/>
          <p:cNvSpPr txBox="1"/>
          <p:nvPr/>
        </p:nvSpPr>
        <p:spPr>
          <a:xfrm>
            <a:off x="822960" y="3977639"/>
            <a:ext cx="2971800" cy="1371600"/>
          </a:xfrm>
          <a:prstGeom prst="rect">
            <a:avLst/>
          </a:prstGeom>
          <a:noFill/>
        </p:spPr>
        <p:txBody>
          <a:bodyPr wrap="square" lIns="0" tIns="0" rIns="0" bIns="0" anchor="t">
            <a:spAutoFit/>
          </a:bodyPr>
          <a:lstStyle/>
          <a:p>
            <a:pPr algn="l">
              <a:lnSpc>
                <a:spcPct val="130000"/>
              </a:lnSpc>
              <a:spcAft>
                <a:spcPts val="0"/>
              </a:spcAft>
            </a:pPr>
            <a:r>
              <a:rPr sz="1400" b="0">
                <a:solidFill>
                  <a:srgbClr val="92A2B3"/>
                </a:solidFill>
                <a:latin typeface="Calibri"/>
              </a:rPr>
              <a:t>Turning an Arduino/Raspberry Pi idea into a working build without juggling five reference tabs and a shopping cart.</a:t>
            </a:r>
          </a:p>
        </p:txBody>
      </p:sp>
      <p:sp>
        <p:nvSpPr>
          <p:cNvPr id="11" name="Rounded Rectangle 10"/>
          <p:cNvSpPr/>
          <p:nvPr/>
        </p:nvSpPr>
        <p:spPr>
          <a:xfrm>
            <a:off x="4297680" y="2103120"/>
            <a:ext cx="3611880" cy="338328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17720" y="2423160"/>
            <a:ext cx="548640" cy="548640"/>
          </a:xfrm>
          <a:prstGeom prst="ellipse">
            <a:avLst/>
          </a:prstGeom>
          <a:noFill/>
          <a:ln w="2540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2423160"/>
            <a:ext cx="548640" cy="548640"/>
          </a:xfrm>
          <a:prstGeom prst="rect">
            <a:avLst/>
          </a:prstGeom>
          <a:noFill/>
        </p:spPr>
        <p:txBody>
          <a:bodyPr wrap="square" lIns="0" tIns="0" rIns="0" bIns="0" anchor="ctr">
            <a:spAutoFit/>
          </a:bodyPr>
          <a:lstStyle/>
          <a:p>
            <a:pPr algn="ctr">
              <a:lnSpc>
                <a:spcPct val="100000"/>
              </a:lnSpc>
              <a:spcAft>
                <a:spcPts val="0"/>
              </a:spcAft>
            </a:pPr>
            <a:r>
              <a:rPr sz="2000" b="1">
                <a:solidFill>
                  <a:srgbClr val="33DDC2"/>
                </a:solidFill>
                <a:latin typeface="Calibri"/>
              </a:rPr>
              <a:t>2</a:t>
            </a:r>
          </a:p>
        </p:txBody>
      </p:sp>
      <p:sp>
        <p:nvSpPr>
          <p:cNvPr id="14" name="TextBox 13"/>
          <p:cNvSpPr txBox="1"/>
          <p:nvPr/>
        </p:nvSpPr>
        <p:spPr>
          <a:xfrm>
            <a:off x="4617720" y="3246120"/>
            <a:ext cx="2971800" cy="731520"/>
          </a:xfrm>
          <a:prstGeom prst="rect">
            <a:avLst/>
          </a:prstGeom>
          <a:noFill/>
        </p:spPr>
        <p:txBody>
          <a:bodyPr wrap="square" lIns="0" tIns="0" rIns="0" bIns="0" anchor="t">
            <a:spAutoFit/>
          </a:bodyPr>
          <a:lstStyle/>
          <a:p>
            <a:pPr algn="l">
              <a:lnSpc>
                <a:spcPct val="115000"/>
              </a:lnSpc>
              <a:spcAft>
                <a:spcPts val="0"/>
              </a:spcAft>
            </a:pPr>
            <a:r>
              <a:rPr sz="1800" b="1">
                <a:solidFill>
                  <a:srgbClr val="F3F6F8"/>
                </a:solidFill>
                <a:latin typeface="Calibri"/>
              </a:rPr>
              <a:t>Robotics course instructors</a:t>
            </a:r>
          </a:p>
        </p:txBody>
      </p:sp>
      <p:sp>
        <p:nvSpPr>
          <p:cNvPr id="15" name="TextBox 14"/>
          <p:cNvSpPr txBox="1"/>
          <p:nvPr/>
        </p:nvSpPr>
        <p:spPr>
          <a:xfrm>
            <a:off x="4617720" y="3977639"/>
            <a:ext cx="2971800" cy="1371600"/>
          </a:xfrm>
          <a:prstGeom prst="rect">
            <a:avLst/>
          </a:prstGeom>
          <a:noFill/>
        </p:spPr>
        <p:txBody>
          <a:bodyPr wrap="square" lIns="0" tIns="0" rIns="0" bIns="0" anchor="t">
            <a:spAutoFit/>
          </a:bodyPr>
          <a:lstStyle/>
          <a:p>
            <a:pPr algn="l">
              <a:lnSpc>
                <a:spcPct val="130000"/>
              </a:lnSpc>
              <a:spcAft>
                <a:spcPts val="0"/>
              </a:spcAft>
            </a:pPr>
            <a:r>
              <a:rPr sz="1400" b="0">
                <a:solidFill>
                  <a:srgbClr val="92A2B3"/>
                </a:solidFill>
                <a:latin typeface="Calibri"/>
              </a:rPr>
              <a:t>Bootcamps and STEM programs that want students focused on concepts, not fighting toolchains.</a:t>
            </a:r>
          </a:p>
        </p:txBody>
      </p:sp>
      <p:sp>
        <p:nvSpPr>
          <p:cNvPr id="16" name="Rounded Rectangle 15"/>
          <p:cNvSpPr/>
          <p:nvPr/>
        </p:nvSpPr>
        <p:spPr>
          <a:xfrm>
            <a:off x="8092440" y="2103120"/>
            <a:ext cx="3611880" cy="338328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12480" y="2423160"/>
            <a:ext cx="548640" cy="548640"/>
          </a:xfrm>
          <a:prstGeom prst="ellipse">
            <a:avLst/>
          </a:prstGeom>
          <a:noFill/>
          <a:ln w="2540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2423160"/>
            <a:ext cx="548640" cy="548640"/>
          </a:xfrm>
          <a:prstGeom prst="rect">
            <a:avLst/>
          </a:prstGeom>
          <a:noFill/>
        </p:spPr>
        <p:txBody>
          <a:bodyPr wrap="square" lIns="0" tIns="0" rIns="0" bIns="0" anchor="ctr">
            <a:spAutoFit/>
          </a:bodyPr>
          <a:lstStyle/>
          <a:p>
            <a:pPr algn="ctr">
              <a:lnSpc>
                <a:spcPct val="100000"/>
              </a:lnSpc>
              <a:spcAft>
                <a:spcPts val="0"/>
              </a:spcAft>
            </a:pPr>
            <a:r>
              <a:rPr sz="2000" b="1">
                <a:solidFill>
                  <a:srgbClr val="33DDC2"/>
                </a:solidFill>
                <a:latin typeface="Calibri"/>
              </a:rPr>
              <a:t>3</a:t>
            </a:r>
          </a:p>
        </p:txBody>
      </p:sp>
      <p:sp>
        <p:nvSpPr>
          <p:cNvPr id="19" name="TextBox 18"/>
          <p:cNvSpPr txBox="1"/>
          <p:nvPr/>
        </p:nvSpPr>
        <p:spPr>
          <a:xfrm>
            <a:off x="8412480" y="3246120"/>
            <a:ext cx="2971800" cy="731520"/>
          </a:xfrm>
          <a:prstGeom prst="rect">
            <a:avLst/>
          </a:prstGeom>
          <a:noFill/>
        </p:spPr>
        <p:txBody>
          <a:bodyPr wrap="square" lIns="0" tIns="0" rIns="0" bIns="0" anchor="t">
            <a:spAutoFit/>
          </a:bodyPr>
          <a:lstStyle/>
          <a:p>
            <a:pPr algn="l">
              <a:lnSpc>
                <a:spcPct val="115000"/>
              </a:lnSpc>
              <a:spcAft>
                <a:spcPts val="0"/>
              </a:spcAft>
            </a:pPr>
            <a:r>
              <a:rPr sz="1800" b="1">
                <a:solidFill>
                  <a:srgbClr val="F3F6F8"/>
                </a:solidFill>
                <a:latin typeface="Calibri"/>
              </a:rPr>
              <a:t>Hardware prototyping teams</a:t>
            </a:r>
          </a:p>
        </p:txBody>
      </p:sp>
      <p:sp>
        <p:nvSpPr>
          <p:cNvPr id="20" name="TextBox 19"/>
          <p:cNvSpPr txBox="1"/>
          <p:nvPr/>
        </p:nvSpPr>
        <p:spPr>
          <a:xfrm>
            <a:off x="8412480" y="3977639"/>
            <a:ext cx="2971800" cy="1371600"/>
          </a:xfrm>
          <a:prstGeom prst="rect">
            <a:avLst/>
          </a:prstGeom>
          <a:noFill/>
        </p:spPr>
        <p:txBody>
          <a:bodyPr wrap="square" lIns="0" tIns="0" rIns="0" bIns="0" anchor="t">
            <a:spAutoFit/>
          </a:bodyPr>
          <a:lstStyle/>
          <a:p>
            <a:pPr algn="l">
              <a:lnSpc>
                <a:spcPct val="130000"/>
              </a:lnSpc>
              <a:spcAft>
                <a:spcPts val="0"/>
              </a:spcAft>
            </a:pPr>
            <a:r>
              <a:rPr sz="1400" b="0">
                <a:solidFill>
                  <a:srgbClr val="92A2B3"/>
                </a:solidFill>
                <a:latin typeface="Calibri"/>
              </a:rPr>
              <a:t>Fast iteration from concept to a bill of materials that can actually be ordered, with an audit trail on every purchase.</a:t>
            </a:r>
          </a:p>
        </p:txBody>
      </p:sp>
      <p:sp>
        <p:nvSpPr>
          <p:cNvPr id="21" name="TextBox 20"/>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Pitch</a:t>
            </a:r>
          </a:p>
        </p:txBody>
      </p:sp>
      <p:sp>
        <p:nvSpPr>
          <p:cNvPr id="22" name="TextBox 21"/>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4</a:t>
            </a:r>
          </a:p>
        </p:txBody>
      </p:sp>
      <p:cxnSp>
        <p:nvCxnSpPr>
          <p:cNvPr id="23" name="Connector 22"/>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IN ACTION</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One prompt → four specialists → a purchasable result</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74519"/>
            <a:ext cx="10881360" cy="502920"/>
          </a:xfrm>
          <a:prstGeom prst="rect">
            <a:avLst/>
          </a:prstGeom>
          <a:noFill/>
        </p:spPr>
        <p:txBody>
          <a:bodyPr wrap="square" lIns="0" tIns="0" rIns="0" bIns="0" anchor="t">
            <a:spAutoFit/>
          </a:bodyPr>
          <a:lstStyle/>
          <a:p>
            <a:pPr algn="l">
              <a:lnSpc>
                <a:spcPct val="100000"/>
              </a:lnSpc>
              <a:spcAft>
                <a:spcPts val="0"/>
              </a:spcAft>
            </a:pPr>
            <a:r>
              <a:rPr sz="1800" b="1">
                <a:solidFill>
                  <a:srgbClr val="33DDC2"/>
                </a:solidFill>
                <a:latin typeface="Calibri"/>
              </a:rPr>
              <a:t>“Build me a two-wheel obstacle-avoiding robot with an ultrasonic sensor.”</a:t>
            </a:r>
          </a:p>
        </p:txBody>
      </p:sp>
      <p:sp>
        <p:nvSpPr>
          <p:cNvPr id="7" name="Oval 6"/>
          <p:cNvSpPr/>
          <p:nvPr/>
        </p:nvSpPr>
        <p:spPr>
          <a:xfrm>
            <a:off x="502920" y="2606040"/>
            <a:ext cx="502920" cy="502920"/>
          </a:xfrm>
          <a:prstGeom prst="ellipse">
            <a:avLst/>
          </a:prstGeom>
          <a:solidFill>
            <a:srgbClr val="172435"/>
          </a:solidFill>
          <a:ln w="1905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606040"/>
            <a:ext cx="502920" cy="502920"/>
          </a:xfrm>
          <a:prstGeom prst="rect">
            <a:avLst/>
          </a:prstGeom>
          <a:noFill/>
        </p:spPr>
        <p:txBody>
          <a:bodyPr wrap="square" lIns="0" tIns="0" rIns="0" bIns="0" anchor="ctr">
            <a:spAutoFit/>
          </a:bodyPr>
          <a:lstStyle/>
          <a:p>
            <a:pPr algn="ctr">
              <a:lnSpc>
                <a:spcPct val="100000"/>
              </a:lnSpc>
              <a:spcAft>
                <a:spcPts val="0"/>
              </a:spcAft>
            </a:pPr>
            <a:r>
              <a:rPr sz="1800" b="1">
                <a:solidFill>
                  <a:srgbClr val="33DDC2"/>
                </a:solidFill>
                <a:latin typeface="Calibri"/>
              </a:rPr>
              <a:t>1</a:t>
            </a:r>
          </a:p>
        </p:txBody>
      </p:sp>
      <p:sp>
        <p:nvSpPr>
          <p:cNvPr id="9" name="TextBox 8"/>
          <p:cNvSpPr txBox="1"/>
          <p:nvPr/>
        </p:nvSpPr>
        <p:spPr>
          <a:xfrm>
            <a:off x="1234440" y="2587752"/>
            <a:ext cx="2651760" cy="548640"/>
          </a:xfrm>
          <a:prstGeom prst="rect">
            <a:avLst/>
          </a:prstGeom>
          <a:noFill/>
        </p:spPr>
        <p:txBody>
          <a:bodyPr wrap="square" lIns="0" tIns="0" rIns="0" bIns="0" anchor="ctr">
            <a:spAutoFit/>
          </a:bodyPr>
          <a:lstStyle/>
          <a:p>
            <a:pPr algn="l">
              <a:lnSpc>
                <a:spcPct val="100000"/>
              </a:lnSpc>
              <a:spcAft>
                <a:spcPts val="0"/>
              </a:spcAft>
            </a:pPr>
            <a:r>
              <a:rPr sz="1600" b="1">
                <a:solidFill>
                  <a:srgbClr val="F3F6F8"/>
                </a:solidFill>
                <a:latin typeface="Calibri"/>
              </a:rPr>
              <a:t>Wiring Agent</a:t>
            </a:r>
          </a:p>
        </p:txBody>
      </p:sp>
      <p:sp>
        <p:nvSpPr>
          <p:cNvPr id="10" name="TextBox 9"/>
          <p:cNvSpPr txBox="1"/>
          <p:nvPr/>
        </p:nvSpPr>
        <p:spPr>
          <a:xfrm>
            <a:off x="4023360" y="2587752"/>
            <a:ext cx="7589520" cy="640080"/>
          </a:xfrm>
          <a:prstGeom prst="rect">
            <a:avLst/>
          </a:prstGeom>
          <a:noFill/>
        </p:spPr>
        <p:txBody>
          <a:bodyPr wrap="square" lIns="0" tIns="0" rIns="0" bIns="0" anchor="ctr">
            <a:spAutoFit/>
          </a:bodyPr>
          <a:lstStyle/>
          <a:p>
            <a:pPr algn="l">
              <a:lnSpc>
                <a:spcPct val="120000"/>
              </a:lnSpc>
              <a:spcAft>
                <a:spcPts val="0"/>
              </a:spcAft>
            </a:pPr>
            <a:r>
              <a:rPr sz="1400" b="0">
                <a:solidFill>
                  <a:srgbClr val="92A2B3"/>
                </a:solidFill>
                <a:latin typeface="Calibri"/>
              </a:rPr>
              <a:t>Plans HC-SR04 + motor driver pinout, validates against the board.</a:t>
            </a:r>
          </a:p>
        </p:txBody>
      </p:sp>
      <p:cxnSp>
        <p:nvCxnSpPr>
          <p:cNvPr id="11" name="Connector 10"/>
          <p:cNvCxnSpPr/>
          <p:nvPr/>
        </p:nvCxnSpPr>
        <p:spPr>
          <a:xfrm>
            <a:off x="754380" y="3136392"/>
            <a:ext cx="0" cy="256032"/>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02920" y="3538728"/>
            <a:ext cx="502920" cy="502920"/>
          </a:xfrm>
          <a:prstGeom prst="ellipse">
            <a:avLst/>
          </a:prstGeom>
          <a:solidFill>
            <a:srgbClr val="172435"/>
          </a:solidFill>
          <a:ln w="1905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3538728"/>
            <a:ext cx="502920" cy="502920"/>
          </a:xfrm>
          <a:prstGeom prst="rect">
            <a:avLst/>
          </a:prstGeom>
          <a:noFill/>
        </p:spPr>
        <p:txBody>
          <a:bodyPr wrap="square" lIns="0" tIns="0" rIns="0" bIns="0" anchor="ctr">
            <a:spAutoFit/>
          </a:bodyPr>
          <a:lstStyle/>
          <a:p>
            <a:pPr algn="ctr">
              <a:lnSpc>
                <a:spcPct val="100000"/>
              </a:lnSpc>
              <a:spcAft>
                <a:spcPts val="0"/>
              </a:spcAft>
            </a:pPr>
            <a:r>
              <a:rPr sz="1800" b="1">
                <a:solidFill>
                  <a:srgbClr val="33DDC2"/>
                </a:solidFill>
                <a:latin typeface="Calibri"/>
              </a:rPr>
              <a:t>2</a:t>
            </a:r>
          </a:p>
        </p:txBody>
      </p:sp>
      <p:sp>
        <p:nvSpPr>
          <p:cNvPr id="14" name="TextBox 13"/>
          <p:cNvSpPr txBox="1"/>
          <p:nvPr/>
        </p:nvSpPr>
        <p:spPr>
          <a:xfrm>
            <a:off x="1234440" y="3520440"/>
            <a:ext cx="2651760" cy="548640"/>
          </a:xfrm>
          <a:prstGeom prst="rect">
            <a:avLst/>
          </a:prstGeom>
          <a:noFill/>
        </p:spPr>
        <p:txBody>
          <a:bodyPr wrap="square" lIns="0" tIns="0" rIns="0" bIns="0" anchor="ctr">
            <a:spAutoFit/>
          </a:bodyPr>
          <a:lstStyle/>
          <a:p>
            <a:pPr algn="l">
              <a:lnSpc>
                <a:spcPct val="100000"/>
              </a:lnSpc>
              <a:spcAft>
                <a:spcPts val="0"/>
              </a:spcAft>
            </a:pPr>
            <a:r>
              <a:rPr sz="1600" b="1">
                <a:solidFill>
                  <a:srgbClr val="F3F6F8"/>
                </a:solidFill>
                <a:latin typeface="Calibri"/>
              </a:rPr>
              <a:t>Coding Agent</a:t>
            </a:r>
          </a:p>
        </p:txBody>
      </p:sp>
      <p:sp>
        <p:nvSpPr>
          <p:cNvPr id="15" name="TextBox 14"/>
          <p:cNvSpPr txBox="1"/>
          <p:nvPr/>
        </p:nvSpPr>
        <p:spPr>
          <a:xfrm>
            <a:off x="4023360" y="3520440"/>
            <a:ext cx="7589520" cy="640080"/>
          </a:xfrm>
          <a:prstGeom prst="rect">
            <a:avLst/>
          </a:prstGeom>
          <a:noFill/>
        </p:spPr>
        <p:txBody>
          <a:bodyPr wrap="square" lIns="0" tIns="0" rIns="0" bIns="0" anchor="ctr">
            <a:spAutoFit/>
          </a:bodyPr>
          <a:lstStyle/>
          <a:p>
            <a:pPr algn="l">
              <a:lnSpc>
                <a:spcPct val="120000"/>
              </a:lnSpc>
              <a:spcAft>
                <a:spcPts val="0"/>
              </a:spcAft>
            </a:pPr>
            <a:r>
              <a:rPr sz="1400" b="0">
                <a:solidFill>
                  <a:srgbClr val="92A2B3"/>
                </a:solidFill>
                <a:latin typeface="Calibri"/>
              </a:rPr>
              <a:t>Generates the Arduino sketch (approval required before saving).</a:t>
            </a:r>
          </a:p>
        </p:txBody>
      </p:sp>
      <p:cxnSp>
        <p:nvCxnSpPr>
          <p:cNvPr id="16" name="Connector 15"/>
          <p:cNvCxnSpPr/>
          <p:nvPr/>
        </p:nvCxnSpPr>
        <p:spPr>
          <a:xfrm>
            <a:off x="754380" y="4069080"/>
            <a:ext cx="0" cy="256032"/>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02920" y="4471416"/>
            <a:ext cx="502920" cy="502920"/>
          </a:xfrm>
          <a:prstGeom prst="ellipse">
            <a:avLst/>
          </a:prstGeom>
          <a:solidFill>
            <a:srgbClr val="172435"/>
          </a:solidFill>
          <a:ln w="1905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4471416"/>
            <a:ext cx="502920" cy="502920"/>
          </a:xfrm>
          <a:prstGeom prst="rect">
            <a:avLst/>
          </a:prstGeom>
          <a:noFill/>
        </p:spPr>
        <p:txBody>
          <a:bodyPr wrap="square" lIns="0" tIns="0" rIns="0" bIns="0" anchor="ctr">
            <a:spAutoFit/>
          </a:bodyPr>
          <a:lstStyle/>
          <a:p>
            <a:pPr algn="ctr">
              <a:lnSpc>
                <a:spcPct val="100000"/>
              </a:lnSpc>
              <a:spcAft>
                <a:spcPts val="0"/>
              </a:spcAft>
            </a:pPr>
            <a:r>
              <a:rPr sz="1800" b="1">
                <a:solidFill>
                  <a:srgbClr val="33DDC2"/>
                </a:solidFill>
                <a:latin typeface="Calibri"/>
              </a:rPr>
              <a:t>3</a:t>
            </a:r>
          </a:p>
        </p:txBody>
      </p:sp>
      <p:sp>
        <p:nvSpPr>
          <p:cNvPr id="19" name="TextBox 18"/>
          <p:cNvSpPr txBox="1"/>
          <p:nvPr/>
        </p:nvSpPr>
        <p:spPr>
          <a:xfrm>
            <a:off x="1234440" y="4453128"/>
            <a:ext cx="2651760" cy="548640"/>
          </a:xfrm>
          <a:prstGeom prst="rect">
            <a:avLst/>
          </a:prstGeom>
          <a:noFill/>
        </p:spPr>
        <p:txBody>
          <a:bodyPr wrap="square" lIns="0" tIns="0" rIns="0" bIns="0" anchor="ctr">
            <a:spAutoFit/>
          </a:bodyPr>
          <a:lstStyle/>
          <a:p>
            <a:pPr algn="l">
              <a:lnSpc>
                <a:spcPct val="100000"/>
              </a:lnSpc>
              <a:spcAft>
                <a:spcPts val="0"/>
              </a:spcAft>
            </a:pPr>
            <a:r>
              <a:rPr sz="1600" b="1">
                <a:solidFill>
                  <a:srgbClr val="F3F6F8"/>
                </a:solidFill>
                <a:latin typeface="Calibri"/>
              </a:rPr>
              <a:t>Visualization Agent</a:t>
            </a:r>
          </a:p>
        </p:txBody>
      </p:sp>
      <p:sp>
        <p:nvSpPr>
          <p:cNvPr id="20" name="TextBox 19"/>
          <p:cNvSpPr txBox="1"/>
          <p:nvPr/>
        </p:nvSpPr>
        <p:spPr>
          <a:xfrm>
            <a:off x="4023360" y="4453128"/>
            <a:ext cx="7589520" cy="640080"/>
          </a:xfrm>
          <a:prstGeom prst="rect">
            <a:avLst/>
          </a:prstGeom>
          <a:noFill/>
        </p:spPr>
        <p:txBody>
          <a:bodyPr wrap="square" lIns="0" tIns="0" rIns="0" bIns="0" anchor="ctr">
            <a:spAutoFit/>
          </a:bodyPr>
          <a:lstStyle/>
          <a:p>
            <a:pPr algn="l">
              <a:lnSpc>
                <a:spcPct val="120000"/>
              </a:lnSpc>
              <a:spcAft>
                <a:spcPts val="0"/>
              </a:spcAft>
            </a:pPr>
            <a:r>
              <a:rPr sz="1400" b="0">
                <a:solidFill>
                  <a:srgbClr val="92A2B3"/>
                </a:solidFill>
                <a:latin typeface="Calibri"/>
              </a:rPr>
              <a:t>Builds &amp; renders an OpenSCAD chassis preview (approval required).</a:t>
            </a:r>
          </a:p>
        </p:txBody>
      </p:sp>
      <p:cxnSp>
        <p:nvCxnSpPr>
          <p:cNvPr id="21" name="Connector 20"/>
          <p:cNvCxnSpPr/>
          <p:nvPr/>
        </p:nvCxnSpPr>
        <p:spPr>
          <a:xfrm>
            <a:off x="754380" y="5001768"/>
            <a:ext cx="0" cy="256032"/>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02920" y="5404104"/>
            <a:ext cx="502920" cy="502920"/>
          </a:xfrm>
          <a:prstGeom prst="ellipse">
            <a:avLst/>
          </a:prstGeom>
          <a:solidFill>
            <a:srgbClr val="172435"/>
          </a:solidFill>
          <a:ln w="19050">
            <a:solidFill>
              <a:srgbClr val="33D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5404104"/>
            <a:ext cx="502920" cy="502920"/>
          </a:xfrm>
          <a:prstGeom prst="rect">
            <a:avLst/>
          </a:prstGeom>
          <a:noFill/>
        </p:spPr>
        <p:txBody>
          <a:bodyPr wrap="square" lIns="0" tIns="0" rIns="0" bIns="0" anchor="ctr">
            <a:spAutoFit/>
          </a:bodyPr>
          <a:lstStyle/>
          <a:p>
            <a:pPr algn="ctr">
              <a:lnSpc>
                <a:spcPct val="100000"/>
              </a:lnSpc>
              <a:spcAft>
                <a:spcPts val="0"/>
              </a:spcAft>
            </a:pPr>
            <a:r>
              <a:rPr sz="1800" b="1">
                <a:solidFill>
                  <a:srgbClr val="33DDC2"/>
                </a:solidFill>
                <a:latin typeface="Calibri"/>
              </a:rPr>
              <a:t>4</a:t>
            </a:r>
          </a:p>
        </p:txBody>
      </p:sp>
      <p:sp>
        <p:nvSpPr>
          <p:cNvPr id="24" name="TextBox 23"/>
          <p:cNvSpPr txBox="1"/>
          <p:nvPr/>
        </p:nvSpPr>
        <p:spPr>
          <a:xfrm>
            <a:off x="1234440" y="5385816"/>
            <a:ext cx="2651760" cy="548640"/>
          </a:xfrm>
          <a:prstGeom prst="rect">
            <a:avLst/>
          </a:prstGeom>
          <a:noFill/>
        </p:spPr>
        <p:txBody>
          <a:bodyPr wrap="square" lIns="0" tIns="0" rIns="0" bIns="0" anchor="ctr">
            <a:spAutoFit/>
          </a:bodyPr>
          <a:lstStyle/>
          <a:p>
            <a:pPr algn="l">
              <a:lnSpc>
                <a:spcPct val="100000"/>
              </a:lnSpc>
              <a:spcAft>
                <a:spcPts val="0"/>
              </a:spcAft>
            </a:pPr>
            <a:r>
              <a:rPr sz="1600" b="1">
                <a:solidFill>
                  <a:srgbClr val="F3F6F8"/>
                </a:solidFill>
                <a:latin typeface="Calibri"/>
              </a:rPr>
              <a:t>Component Manager</a:t>
            </a:r>
          </a:p>
        </p:txBody>
      </p:sp>
      <p:sp>
        <p:nvSpPr>
          <p:cNvPr id="25" name="TextBox 24"/>
          <p:cNvSpPr txBox="1"/>
          <p:nvPr/>
        </p:nvSpPr>
        <p:spPr>
          <a:xfrm>
            <a:off x="4023360" y="5385816"/>
            <a:ext cx="7589520" cy="640080"/>
          </a:xfrm>
          <a:prstGeom prst="rect">
            <a:avLst/>
          </a:prstGeom>
          <a:noFill/>
        </p:spPr>
        <p:txBody>
          <a:bodyPr wrap="square" lIns="0" tIns="0" rIns="0" bIns="0" anchor="ctr">
            <a:spAutoFit/>
          </a:bodyPr>
          <a:lstStyle/>
          <a:p>
            <a:pPr algn="l">
              <a:lnSpc>
                <a:spcPct val="120000"/>
              </a:lnSpc>
              <a:spcAft>
                <a:spcPts val="0"/>
              </a:spcAft>
            </a:pPr>
            <a:r>
              <a:rPr sz="1400" b="0">
                <a:solidFill>
                  <a:srgbClr val="92A2B3"/>
                </a:solidFill>
                <a:latin typeface="Calibri"/>
              </a:rPr>
              <a:t>Finds the sensor on DigiKey, proposes a purchase; user approves the AP2 mandate before Lithic pays.</a:t>
            </a:r>
          </a:p>
        </p:txBody>
      </p:sp>
      <p:sp>
        <p:nvSpPr>
          <p:cNvPr id="26" name="TextBox 25"/>
          <p:cNvSpPr txBox="1"/>
          <p:nvPr/>
        </p:nvSpPr>
        <p:spPr>
          <a:xfrm>
            <a:off x="502920" y="6263640"/>
            <a:ext cx="10881360" cy="274320"/>
          </a:xfrm>
          <a:prstGeom prst="rect">
            <a:avLst/>
          </a:prstGeom>
          <a:noFill/>
        </p:spPr>
        <p:txBody>
          <a:bodyPr wrap="square" lIns="0" tIns="0" rIns="0" bIns="0" anchor="t">
            <a:spAutoFit/>
          </a:bodyPr>
          <a:lstStyle/>
          <a:p>
            <a:pPr algn="l">
              <a:lnSpc>
                <a:spcPct val="100000"/>
              </a:lnSpc>
              <a:spcAft>
                <a:spcPts val="0"/>
              </a:spcAft>
            </a:pPr>
            <a:r>
              <a:rPr sz="1250" b="0">
                <a:solidFill>
                  <a:srgbClr val="92A2B3"/>
                </a:solidFill>
                <a:latin typeface="Calibri"/>
              </a:rPr>
              <a:t>Same chat thread, start to finish — with a human confirming every step that writes, renders or spends.</a:t>
            </a:r>
          </a:p>
        </p:txBody>
      </p:sp>
      <p:sp>
        <p:nvSpPr>
          <p:cNvPr id="27" name="TextBox 26"/>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Pitch</a:t>
            </a:r>
          </a:p>
        </p:txBody>
      </p:sp>
      <p:sp>
        <p:nvSpPr>
          <p:cNvPr id="28" name="TextBox 27"/>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5</a:t>
            </a:r>
          </a:p>
        </p:txBody>
      </p:sp>
      <p:cxnSp>
        <p:nvCxnSpPr>
          <p:cNvPr id="29" name="Connector 28"/>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121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880360"/>
            <a:ext cx="1188720" cy="5080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108960"/>
            <a:ext cx="9144000" cy="365760"/>
          </a:xfrm>
          <a:prstGeom prst="rect">
            <a:avLst/>
          </a:prstGeom>
          <a:noFill/>
        </p:spPr>
        <p:txBody>
          <a:bodyPr wrap="square" lIns="0" tIns="0" rIns="0" bIns="0" anchor="t">
            <a:spAutoFit/>
          </a:bodyPr>
          <a:lstStyle/>
          <a:p>
            <a:pPr algn="l">
              <a:lnSpc>
                <a:spcPct val="100000"/>
              </a:lnSpc>
              <a:spcAft>
                <a:spcPts val="0"/>
              </a:spcAft>
            </a:pPr>
            <a:r>
              <a:rPr sz="1500" b="1">
                <a:solidFill>
                  <a:srgbClr val="33DDC2"/>
                </a:solidFill>
                <a:latin typeface="Calibri"/>
              </a:rPr>
              <a:t>PART TWO</a:t>
            </a:r>
          </a:p>
        </p:txBody>
      </p:sp>
      <p:sp>
        <p:nvSpPr>
          <p:cNvPr id="6" name="TextBox 5"/>
          <p:cNvSpPr txBox="1"/>
          <p:nvPr/>
        </p:nvSpPr>
        <p:spPr>
          <a:xfrm>
            <a:off x="502920" y="3474720"/>
            <a:ext cx="10058400" cy="914400"/>
          </a:xfrm>
          <a:prstGeom prst="rect">
            <a:avLst/>
          </a:prstGeom>
          <a:noFill/>
        </p:spPr>
        <p:txBody>
          <a:bodyPr wrap="square" lIns="0" tIns="0" rIns="0" bIns="0" anchor="t">
            <a:spAutoFit/>
          </a:bodyPr>
          <a:lstStyle/>
          <a:p>
            <a:pPr algn="l">
              <a:lnSpc>
                <a:spcPct val="100000"/>
              </a:lnSpc>
              <a:spcAft>
                <a:spcPts val="0"/>
              </a:spcAft>
            </a:pPr>
            <a:r>
              <a:rPr sz="4400" b="1">
                <a:solidFill>
                  <a:srgbClr val="F3F6F8"/>
                </a:solidFill>
                <a:latin typeface="Calibri"/>
              </a:rPr>
              <a:t>Technical Stack</a:t>
            </a:r>
          </a:p>
        </p:txBody>
      </p:sp>
      <p:sp>
        <p:nvSpPr>
          <p:cNvPr id="7" name="TextBox 6"/>
          <p:cNvSpPr txBox="1"/>
          <p:nvPr/>
        </p:nvSpPr>
        <p:spPr>
          <a:xfrm>
            <a:off x="502920" y="4251960"/>
            <a:ext cx="9601200" cy="548640"/>
          </a:xfrm>
          <a:prstGeom prst="rect">
            <a:avLst/>
          </a:prstGeom>
          <a:noFill/>
        </p:spPr>
        <p:txBody>
          <a:bodyPr wrap="square" lIns="0" tIns="0" rIns="0" bIns="0" anchor="t">
            <a:spAutoFit/>
          </a:bodyPr>
          <a:lstStyle/>
          <a:p>
            <a:pPr algn="l">
              <a:lnSpc>
                <a:spcPct val="100000"/>
              </a:lnSpc>
              <a:spcAft>
                <a:spcPts val="0"/>
              </a:spcAft>
            </a:pPr>
            <a:r>
              <a:rPr sz="1700" b="0">
                <a:solidFill>
                  <a:srgbClr val="92A2B3"/>
                </a:solidFill>
                <a:latin typeface="Calibri"/>
              </a:rPr>
              <a:t>How the multi-agent system is actually built, orchestrated and kept safe.</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Technical Stack</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6</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301752"/>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ARCHITECTURE</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Four independently deployable services</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6080760" y="2331720"/>
            <a:ext cx="0" cy="228600"/>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12280" y="3246120"/>
            <a:ext cx="0" cy="320040"/>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06440" y="3611880"/>
            <a:ext cx="2011680" cy="731520"/>
          </a:xfrm>
          <a:prstGeom prst="roundRect">
            <a:avLst>
              <a:gd name="adj" fmla="val 12000"/>
            </a:avLst>
          </a:prstGeom>
          <a:solidFill>
            <a:srgbClr val="172435"/>
          </a:solidFill>
          <a:ln w="15875">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97880" y="3611880"/>
            <a:ext cx="1828800" cy="731520"/>
          </a:xfrm>
          <a:prstGeom prst="rect">
            <a:avLst/>
          </a:prstGeom>
          <a:noFill/>
        </p:spPr>
        <p:txBody>
          <a:bodyPr wrap="square" lIns="0" tIns="0" rIns="0" bIns="0" anchor="ctr">
            <a:spAutoFit/>
          </a:bodyPr>
          <a:lstStyle/>
          <a:p>
            <a:pPr algn="ctr">
              <a:lnSpc>
                <a:spcPct val="100000"/>
              </a:lnSpc>
              <a:spcAft>
                <a:spcPts val="0"/>
              </a:spcAft>
            </a:pPr>
            <a:r>
              <a:rPr sz="1350" b="1">
                <a:solidFill>
                  <a:srgbClr val="F3F6F8"/>
                </a:solidFill>
                <a:latin typeface="Calibri"/>
              </a:rPr>
              <a:t>Component Manager</a:t>
            </a:r>
          </a:p>
        </p:txBody>
      </p:sp>
      <p:cxnSp>
        <p:nvCxnSpPr>
          <p:cNvPr id="26" name="Connector 25"/>
          <p:cNvCxnSpPr/>
          <p:nvPr/>
        </p:nvCxnSpPr>
        <p:spPr>
          <a:xfrm>
            <a:off x="6812280" y="4343400"/>
            <a:ext cx="0" cy="274320"/>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806440" y="4617720"/>
            <a:ext cx="2011680" cy="594360"/>
          </a:xfrm>
          <a:prstGeom prst="roundRect">
            <a:avLst>
              <a:gd name="adj" fmla="val 12000"/>
            </a:avLst>
          </a:prstGeom>
          <a:solidFill>
            <a:srgbClr val="172435"/>
          </a:solidFill>
          <a:ln w="15875">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97880" y="4617720"/>
            <a:ext cx="1828800" cy="59436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Agent System B</a:t>
            </a:r>
          </a:p>
          <a:p>
            <a:pPr algn="ctr">
              <a:lnSpc>
                <a:spcPct val="100000"/>
              </a:lnSpc>
              <a:spcAft>
                <a:spcPts val="0"/>
              </a:spcAft>
            </a:pPr>
            <a:r>
              <a:rPr sz="1050" b="0">
                <a:solidFill>
                  <a:srgbClr val="92A2B3"/>
                </a:solidFill>
                <a:latin typeface="Calibri"/>
              </a:rPr>
              <a:t>A2A + REST • :8002/:8003</a:t>
            </a:r>
          </a:p>
        </p:txBody>
      </p:sp>
      <p:cxnSp>
        <p:nvCxnSpPr>
          <p:cNvPr id="29" name="Connector 28"/>
          <p:cNvCxnSpPr/>
          <p:nvPr/>
        </p:nvCxnSpPr>
        <p:spPr>
          <a:xfrm>
            <a:off x="6812280" y="5212080"/>
            <a:ext cx="0" cy="274320"/>
          </a:xfrm>
          <a:prstGeom prst="line">
            <a:avLst/>
          </a:prstGeom>
          <a:ln w="19050">
            <a:solidFill>
              <a:srgbClr val="92A2B3"/>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806440" y="5486399"/>
            <a:ext cx="2011680" cy="594360"/>
          </a:xfrm>
          <a:prstGeom prst="roundRect">
            <a:avLst>
              <a:gd name="adj" fmla="val 12000"/>
            </a:avLst>
          </a:prstGeom>
          <a:solidFill>
            <a:srgbClr val="172435"/>
          </a:solidFill>
          <a:ln w="15875">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97880" y="5486399"/>
            <a:ext cx="1828800" cy="594360"/>
          </a:xfrm>
          <a:prstGeom prst="rect">
            <a:avLst/>
          </a:prstGeom>
          <a:noFill/>
        </p:spPr>
        <p:txBody>
          <a:bodyPr wrap="square" lIns="0" tIns="0" rIns="0" bIns="0" anchor="ctr">
            <a:spAutoFit/>
          </a:bodyPr>
          <a:lstStyle/>
          <a:p>
            <a:pPr algn="ctr">
              <a:lnSpc>
                <a:spcPct val="100000"/>
              </a:lnSpc>
              <a:spcAft>
                <a:spcPts val="300"/>
              </a:spcAft>
            </a:pPr>
            <a:r>
              <a:rPr sz="1350" b="1">
                <a:solidFill>
                  <a:srgbClr val="F3F6F8"/>
                </a:solidFill>
                <a:latin typeface="Calibri"/>
              </a:rPr>
              <a:t>DigiKey + Lithic</a:t>
            </a:r>
          </a:p>
          <a:p>
            <a:pPr algn="ctr">
              <a:lnSpc>
                <a:spcPct val="100000"/>
              </a:lnSpc>
              <a:spcAft>
                <a:spcPts val="0"/>
              </a:spcAft>
            </a:pPr>
            <a:r>
              <a:rPr sz="1050" b="0">
                <a:solidFill>
                  <a:srgbClr val="92A2B3"/>
                </a:solidFill>
                <a:latin typeface="Calibri"/>
              </a:rPr>
              <a:t>sandbox sourcing &amp; payment</a:t>
            </a:r>
          </a:p>
        </p:txBody>
      </p:sp>
      <p:sp>
        <p:nvSpPr>
          <p:cNvPr id="32" name="TextBox 31"/>
          <p:cNvSpPr txBox="1"/>
          <p:nvPr/>
        </p:nvSpPr>
        <p:spPr>
          <a:xfrm>
            <a:off x="8503920" y="2560320"/>
            <a:ext cx="3200400" cy="3566160"/>
          </a:xfrm>
          <a:prstGeom prst="rect">
            <a:avLst/>
          </a:prstGeom>
          <a:noFill/>
        </p:spPr>
        <p:txBody>
          <a:bodyPr wrap="square" lIns="0" tIns="0" rIns="0" bIns="0" anchor="t">
            <a:spAutoFit/>
          </a:bodyPr>
          <a:lstStyle/>
          <a:p>
            <a:pPr algn="l">
              <a:lnSpc>
                <a:spcPct val="100000"/>
              </a:lnSpc>
              <a:spcAft>
                <a:spcPts val="800"/>
              </a:spcAft>
            </a:pPr>
            <a:r>
              <a:rPr sz="1500" b="1">
                <a:solidFill>
                  <a:srgbClr val="33DDC2"/>
                </a:solidFill>
                <a:latin typeface="Calibri"/>
              </a:rPr>
              <a:t>Why split it up</a:t>
            </a:r>
          </a:p>
          <a:p>
            <a:pPr marL="256032" indent="-256032" algn="l">
              <a:lnSpc>
                <a:spcPct val="125000"/>
              </a:lnSpc>
              <a:spcAft>
                <a:spcPts val="800"/>
              </a:spcAft>
              <a:buFont typeface="Calibri"/>
              <a:buChar char="›"/>
            </a:pPr>
            <a:r>
              <a:rPr sz="1300" b="0">
                <a:solidFill>
                  <a:srgbClr val="F3F6F8"/>
                </a:solidFill>
                <a:latin typeface="Calibri"/>
              </a:rPr>
              <a:t>Agent A owns conversation state, routing, approvals and payments.</a:t>
            </a:r>
          </a:p>
          <a:p>
            <a:pPr marL="256032" indent="-256032" algn="l">
              <a:lnSpc>
                <a:spcPct val="125000"/>
              </a:lnSpc>
              <a:spcAft>
                <a:spcPts val="800"/>
              </a:spcAft>
              <a:buFont typeface="Calibri"/>
              <a:buChar char="›"/>
            </a:pPr>
            <a:r>
              <a:rPr sz="1300" b="0">
                <a:solidFill>
                  <a:srgbClr val="F3F6F8"/>
                </a:solidFill>
                <a:latin typeface="Calibri"/>
              </a:rPr>
              <a:t>Agent B owns DigiKey OAuth and sandbox ordering — reached over A2A, never imported.</a:t>
            </a:r>
          </a:p>
          <a:p>
            <a:pPr marL="256032" indent="-256032" algn="l">
              <a:lnSpc>
                <a:spcPct val="125000"/>
              </a:lnSpc>
              <a:spcAft>
                <a:spcPts val="800"/>
              </a:spcAft>
              <a:buFont typeface="Calibri"/>
              <a:buChar char="›"/>
            </a:pPr>
            <a:r>
              <a:rPr sz="1300" b="0">
                <a:solidFill>
                  <a:srgbClr val="F3F6F8"/>
                </a:solidFill>
                <a:latin typeface="Calibri"/>
              </a:rPr>
              <a:t>The MCP service owns the embedded robotics RAG runtime and corpus.</a:t>
            </a:r>
          </a:p>
          <a:p>
            <a:pPr marL="256032" indent="-256032" algn="l">
              <a:lnSpc>
                <a:spcPct val="125000"/>
              </a:lnSpc>
              <a:spcAft>
                <a:spcPts val="0"/>
              </a:spcAft>
              <a:buFont typeface="Calibri"/>
              <a:buChar char="›"/>
            </a:pPr>
            <a:r>
              <a:rPr sz="1300" b="0">
                <a:solidFill>
                  <a:srgbClr val="F3F6F8"/>
                </a:solidFill>
                <a:latin typeface="Calibri"/>
              </a:rPr>
              <a:t>The browser only ever talks to Agent A’s public API.</a:t>
            </a:r>
          </a:p>
        </p:txBody>
      </p:sp>
      <p:sp>
        <p:nvSpPr>
          <p:cNvPr id="33" name="TextBox 32"/>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Technical Stack</a:t>
            </a:r>
          </a:p>
        </p:txBody>
      </p:sp>
      <p:sp>
        <p:nvSpPr>
          <p:cNvPr id="34" name="TextBox 33"/>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7</a:t>
            </a:r>
          </a:p>
        </p:txBody>
      </p:sp>
      <p:cxnSp>
        <p:nvCxnSpPr>
          <p:cNvPr id="35" name="Connector 34"/>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pic>
        <p:nvPicPr>
          <p:cNvPr id="39" name="Picture 38">
            <a:extLst>
              <a:ext uri="{FF2B5EF4-FFF2-40B4-BE49-F238E27FC236}">
                <a16:creationId xmlns:a16="http://schemas.microsoft.com/office/drawing/2014/main" id="{7F57161C-62AC-7865-9B37-A955CD4648DC}"/>
              </a:ext>
            </a:extLst>
          </p:cNvPr>
          <p:cNvPicPr>
            <a:picLocks noChangeAspect="1"/>
          </p:cNvPicPr>
          <p:nvPr/>
        </p:nvPicPr>
        <p:blipFill>
          <a:blip r:embed="rId2"/>
          <a:stretch>
            <a:fillRect/>
          </a:stretch>
        </p:blipFill>
        <p:spPr>
          <a:xfrm>
            <a:off x="1967048" y="1571498"/>
            <a:ext cx="6193972" cy="52349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THE AGENT ROSTER</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Each specialist has a narrow job and a matched model</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965960"/>
          <a:ext cx="11201399" cy="4114800"/>
        </p:xfrm>
        <a:graphic>
          <a:graphicData uri="http://schemas.openxmlformats.org/drawingml/2006/table">
            <a:tbl>
              <a:tblPr>
                <a:tableStyleId>{5C22544A-7EE6-4342-B048-85BDC9FD1C3A}</a:tableStyleId>
              </a:tblPr>
              <a:tblGrid>
                <a:gridCol w="2240280">
                  <a:extLst>
                    <a:ext uri="{9D8B030D-6E8A-4147-A177-3AD203B41FA5}">
                      <a16:colId xmlns:a16="http://schemas.microsoft.com/office/drawing/2014/main" val="20000"/>
                    </a:ext>
                  </a:extLst>
                </a:gridCol>
                <a:gridCol w="4684221">
                  <a:extLst>
                    <a:ext uri="{9D8B030D-6E8A-4147-A177-3AD203B41FA5}">
                      <a16:colId xmlns:a16="http://schemas.microsoft.com/office/drawing/2014/main" val="20001"/>
                    </a:ext>
                  </a:extLst>
                </a:gridCol>
                <a:gridCol w="4276898">
                  <a:extLst>
                    <a:ext uri="{9D8B030D-6E8A-4147-A177-3AD203B41FA5}">
                      <a16:colId xmlns:a16="http://schemas.microsoft.com/office/drawing/2014/main" val="20002"/>
                    </a:ext>
                  </a:extLst>
                </a:gridCol>
              </a:tblGrid>
              <a:tr h="514350">
                <a:tc>
                  <a:txBody>
                    <a:bodyPr/>
                    <a:lstStyle/>
                    <a:p>
                      <a:pPr algn="l"/>
                      <a:r>
                        <a:rPr sz="1450" b="1">
                          <a:solidFill>
                            <a:srgbClr val="33DDC2"/>
                          </a:solidFill>
                          <a:latin typeface="Calibri"/>
                        </a:rPr>
                        <a:t>Component</a:t>
                      </a:r>
                    </a:p>
                  </a:txBody>
                  <a:tcPr marL="73152" marR="73152" marT="36576" marB="36576" anchor="ctr">
                    <a:solidFill>
                      <a:srgbClr val="172435"/>
                    </a:solidFill>
                  </a:tcPr>
                </a:tc>
                <a:tc>
                  <a:txBody>
                    <a:bodyPr/>
                    <a:lstStyle/>
                    <a:p>
                      <a:pPr algn="ctr"/>
                      <a:r>
                        <a:rPr sz="1450" b="1">
                          <a:solidFill>
                            <a:srgbClr val="33DDC2"/>
                          </a:solidFill>
                          <a:latin typeface="Calibri"/>
                        </a:rPr>
                        <a:t>Responsibility</a:t>
                      </a:r>
                    </a:p>
                  </a:txBody>
                  <a:tcPr marL="73152" marR="73152" marT="36576" marB="36576" anchor="ctr">
                    <a:solidFill>
                      <a:srgbClr val="172435"/>
                    </a:solidFill>
                  </a:tcPr>
                </a:tc>
                <a:tc>
                  <a:txBody>
                    <a:bodyPr/>
                    <a:lstStyle/>
                    <a:p>
                      <a:pPr algn="ctr"/>
                      <a:r>
                        <a:rPr sz="1450" b="1">
                          <a:solidFill>
                            <a:srgbClr val="33DDC2"/>
                          </a:solidFill>
                          <a:latin typeface="Calibri"/>
                        </a:rPr>
                        <a:t>Model / Mechanism</a:t>
                      </a:r>
                    </a:p>
                  </a:txBody>
                  <a:tcPr marL="73152" marR="73152" marT="36576" marB="36576" anchor="ctr">
                    <a:solidFill>
                      <a:srgbClr val="172435"/>
                    </a:solidFill>
                  </a:tcPr>
                </a:tc>
                <a:extLst>
                  <a:ext uri="{0D108BD9-81ED-4DB2-BD59-A6C34878D82A}">
                    <a16:rowId xmlns:a16="http://schemas.microsoft.com/office/drawing/2014/main" val="10000"/>
                  </a:ext>
                </a:extLst>
              </a:tr>
              <a:tr h="514350">
                <a:tc>
                  <a:txBody>
                    <a:bodyPr/>
                    <a:lstStyle/>
                    <a:p>
                      <a:pPr algn="l"/>
                      <a:r>
                        <a:rPr sz="1350" b="0">
                          <a:solidFill>
                            <a:srgbClr val="F3F6F8"/>
                          </a:solidFill>
                          <a:latin typeface="Calibri"/>
                        </a:rPr>
                        <a:t>Supervisor</a:t>
                      </a:r>
                    </a:p>
                  </a:txBody>
                  <a:tcPr marL="73152" marR="73152" marT="32004" marB="32004" anchor="ctr">
                    <a:solidFill>
                      <a:srgbClr val="121D2B"/>
                    </a:solidFill>
                  </a:tcPr>
                </a:tc>
                <a:tc>
                  <a:txBody>
                    <a:bodyPr/>
                    <a:lstStyle/>
                    <a:p>
                      <a:pPr algn="ctr"/>
                      <a:r>
                        <a:rPr sz="1350" b="0">
                          <a:solidFill>
                            <a:srgbClr val="F3F6F8"/>
                          </a:solidFill>
                          <a:latin typeface="Calibri"/>
                        </a:rPr>
                        <a:t>Selects the next specialist or finishes</a:t>
                      </a:r>
                    </a:p>
                  </a:txBody>
                  <a:tcPr marL="73152" marR="73152" marT="32004" marB="32004" anchor="ctr">
                    <a:solidFill>
                      <a:srgbClr val="121D2B"/>
                    </a:solidFill>
                  </a:tcPr>
                </a:tc>
                <a:tc>
                  <a:txBody>
                    <a:bodyPr/>
                    <a:lstStyle/>
                    <a:p>
                      <a:pPr algn="ctr"/>
                      <a:r>
                        <a:rPr sz="1350" b="0">
                          <a:solidFill>
                            <a:srgbClr val="F3F6F8"/>
                          </a:solidFill>
                          <a:latin typeface="Calibri"/>
                        </a:rPr>
                        <a:t>Groq openai/gpt-oss-120b, structured JSON</a:t>
                      </a:r>
                    </a:p>
                  </a:txBody>
                  <a:tcPr marL="73152" marR="73152" marT="32004" marB="32004" anchor="ctr">
                    <a:solidFill>
                      <a:srgbClr val="121D2B"/>
                    </a:solidFill>
                  </a:tcPr>
                </a:tc>
                <a:extLst>
                  <a:ext uri="{0D108BD9-81ED-4DB2-BD59-A6C34878D82A}">
                    <a16:rowId xmlns:a16="http://schemas.microsoft.com/office/drawing/2014/main" val="10001"/>
                  </a:ext>
                </a:extLst>
              </a:tr>
              <a:tr h="514350">
                <a:tc>
                  <a:txBody>
                    <a:bodyPr/>
                    <a:lstStyle/>
                    <a:p>
                      <a:pPr algn="l"/>
                      <a:r>
                        <a:rPr sz="1350" b="0">
                          <a:solidFill>
                            <a:srgbClr val="F3F6F8"/>
                          </a:solidFill>
                          <a:latin typeface="Calibri"/>
                        </a:rPr>
                        <a:t>RAG Agent</a:t>
                      </a:r>
                    </a:p>
                  </a:txBody>
                  <a:tcPr marL="73152" marR="73152" marT="32004" marB="32004" anchor="ctr">
                    <a:solidFill>
                      <a:srgbClr val="121D2B"/>
                    </a:solidFill>
                  </a:tcPr>
                </a:tc>
                <a:tc>
                  <a:txBody>
                    <a:bodyPr/>
                    <a:lstStyle/>
                    <a:p>
                      <a:pPr algn="ctr"/>
                      <a:r>
                        <a:rPr sz="1350" b="0">
                          <a:solidFill>
                            <a:srgbClr val="F3F6F8"/>
                          </a:solidFill>
                          <a:latin typeface="Calibri"/>
                        </a:rPr>
                        <a:t>Grounded Arduino &amp; robotics Q&amp;A</a:t>
                      </a:r>
                    </a:p>
                  </a:txBody>
                  <a:tcPr marL="73152" marR="73152" marT="32004" marB="32004" anchor="ctr">
                    <a:solidFill>
                      <a:srgbClr val="121D2B"/>
                    </a:solidFill>
                  </a:tcPr>
                </a:tc>
                <a:tc>
                  <a:txBody>
                    <a:bodyPr/>
                    <a:lstStyle/>
                    <a:p>
                      <a:pPr algn="ctr"/>
                      <a:r>
                        <a:rPr sz="1350" b="0">
                          <a:solidFill>
                            <a:srgbClr val="F3F6F8"/>
                          </a:solidFill>
                          <a:latin typeface="Calibri"/>
                        </a:rPr>
                        <a:t>Gemini gemini-3.1-flash-lite + MCP tools</a:t>
                      </a:r>
                    </a:p>
                  </a:txBody>
                  <a:tcPr marL="73152" marR="73152" marT="32004" marB="32004" anchor="ctr">
                    <a:solidFill>
                      <a:srgbClr val="121D2B"/>
                    </a:solidFill>
                  </a:tcPr>
                </a:tc>
                <a:extLst>
                  <a:ext uri="{0D108BD9-81ED-4DB2-BD59-A6C34878D82A}">
                    <a16:rowId xmlns:a16="http://schemas.microsoft.com/office/drawing/2014/main" val="10002"/>
                  </a:ext>
                </a:extLst>
              </a:tr>
              <a:tr h="514350">
                <a:tc>
                  <a:txBody>
                    <a:bodyPr/>
                    <a:lstStyle/>
                    <a:p>
                      <a:pPr algn="l"/>
                      <a:r>
                        <a:rPr sz="1350" b="0">
                          <a:solidFill>
                            <a:srgbClr val="F3F6F8"/>
                          </a:solidFill>
                          <a:latin typeface="Calibri"/>
                        </a:rPr>
                        <a:t>Wiring Agent</a:t>
                      </a:r>
                    </a:p>
                  </a:txBody>
                  <a:tcPr marL="73152" marR="73152" marT="32004" marB="32004" anchor="ctr">
                    <a:solidFill>
                      <a:srgbClr val="121D2B"/>
                    </a:solidFill>
                  </a:tcPr>
                </a:tc>
                <a:tc>
                  <a:txBody>
                    <a:bodyPr/>
                    <a:lstStyle/>
                    <a:p>
                      <a:pPr algn="ctr"/>
                      <a:r>
                        <a:rPr sz="1350" b="0">
                          <a:solidFill>
                            <a:srgbClr val="F3F6F8"/>
                          </a:solidFill>
                          <a:latin typeface="Calibri"/>
                        </a:rPr>
                        <a:t>Deterministic pin planning &amp; validation</a:t>
                      </a:r>
                    </a:p>
                  </a:txBody>
                  <a:tcPr marL="73152" marR="73152" marT="32004" marB="32004" anchor="ctr">
                    <a:solidFill>
                      <a:srgbClr val="121D2B"/>
                    </a:solidFill>
                  </a:tcPr>
                </a:tc>
                <a:tc>
                  <a:txBody>
                    <a:bodyPr/>
                    <a:lstStyle/>
                    <a:p>
                      <a:pPr algn="ctr"/>
                      <a:r>
                        <a:rPr sz="1350" b="0">
                          <a:solidFill>
                            <a:srgbClr val="F3F6F8"/>
                          </a:solidFill>
                          <a:latin typeface="Calibri"/>
                        </a:rPr>
                        <a:t>Groq qwen/qwen3.6-27b</a:t>
                      </a:r>
                    </a:p>
                  </a:txBody>
                  <a:tcPr marL="73152" marR="73152" marT="32004" marB="32004" anchor="ctr">
                    <a:solidFill>
                      <a:srgbClr val="121D2B"/>
                    </a:solidFill>
                  </a:tcPr>
                </a:tc>
                <a:extLst>
                  <a:ext uri="{0D108BD9-81ED-4DB2-BD59-A6C34878D82A}">
                    <a16:rowId xmlns:a16="http://schemas.microsoft.com/office/drawing/2014/main" val="10003"/>
                  </a:ext>
                </a:extLst>
              </a:tr>
              <a:tr h="514350">
                <a:tc>
                  <a:txBody>
                    <a:bodyPr/>
                    <a:lstStyle/>
                    <a:p>
                      <a:pPr algn="l"/>
                      <a:r>
                        <a:rPr sz="1350" b="0">
                          <a:solidFill>
                            <a:srgbClr val="F3F6F8"/>
                          </a:solidFill>
                          <a:latin typeface="Calibri"/>
                        </a:rPr>
                        <a:t>Coding Agent</a:t>
                      </a:r>
                    </a:p>
                  </a:txBody>
                  <a:tcPr marL="73152" marR="73152" marT="32004" marB="32004" anchor="ctr">
                    <a:solidFill>
                      <a:srgbClr val="121D2B"/>
                    </a:solidFill>
                  </a:tcPr>
                </a:tc>
                <a:tc>
                  <a:txBody>
                    <a:bodyPr/>
                    <a:lstStyle/>
                    <a:p>
                      <a:pPr algn="ctr"/>
                      <a:r>
                        <a:rPr sz="1350" b="0">
                          <a:solidFill>
                            <a:srgbClr val="F3F6F8"/>
                          </a:solidFill>
                          <a:latin typeface="Calibri"/>
                        </a:rPr>
                        <a:t>Generates, saves &amp; validates code</a:t>
                      </a:r>
                    </a:p>
                  </a:txBody>
                  <a:tcPr marL="73152" marR="73152" marT="32004" marB="32004" anchor="ctr">
                    <a:solidFill>
                      <a:srgbClr val="121D2B"/>
                    </a:solidFill>
                  </a:tcPr>
                </a:tc>
                <a:tc>
                  <a:txBody>
                    <a:bodyPr/>
                    <a:lstStyle/>
                    <a:p>
                      <a:pPr algn="ctr"/>
                      <a:r>
                        <a:rPr sz="1350" b="0">
                          <a:solidFill>
                            <a:srgbClr val="F3F6F8"/>
                          </a:solidFill>
                          <a:latin typeface="Calibri"/>
                        </a:rPr>
                        <a:t>Groq qwen/qwen3.6-27b</a:t>
                      </a:r>
                    </a:p>
                  </a:txBody>
                  <a:tcPr marL="73152" marR="73152" marT="32004" marB="32004" anchor="ctr">
                    <a:solidFill>
                      <a:srgbClr val="121D2B"/>
                    </a:solidFill>
                  </a:tcPr>
                </a:tc>
                <a:extLst>
                  <a:ext uri="{0D108BD9-81ED-4DB2-BD59-A6C34878D82A}">
                    <a16:rowId xmlns:a16="http://schemas.microsoft.com/office/drawing/2014/main" val="10004"/>
                  </a:ext>
                </a:extLst>
              </a:tr>
              <a:tr h="514350">
                <a:tc>
                  <a:txBody>
                    <a:bodyPr/>
                    <a:lstStyle/>
                    <a:p>
                      <a:pPr algn="l"/>
                      <a:r>
                        <a:rPr sz="1350" b="0">
                          <a:solidFill>
                            <a:srgbClr val="F3F6F8"/>
                          </a:solidFill>
                          <a:latin typeface="Calibri"/>
                        </a:rPr>
                        <a:t>Visualization Agent</a:t>
                      </a:r>
                    </a:p>
                  </a:txBody>
                  <a:tcPr marL="73152" marR="73152" marT="32004" marB="32004" anchor="ctr">
                    <a:solidFill>
                      <a:srgbClr val="121D2B"/>
                    </a:solidFill>
                  </a:tcPr>
                </a:tc>
                <a:tc>
                  <a:txBody>
                    <a:bodyPr/>
                    <a:lstStyle/>
                    <a:p>
                      <a:pPr algn="ctr"/>
                      <a:r>
                        <a:rPr sz="1350" b="0">
                          <a:solidFill>
                            <a:srgbClr val="F3F6F8"/>
                          </a:solidFill>
                          <a:latin typeface="Calibri"/>
                        </a:rPr>
                        <a:t>OpenSCAD model generation &amp; render</a:t>
                      </a:r>
                    </a:p>
                  </a:txBody>
                  <a:tcPr marL="73152" marR="73152" marT="32004" marB="32004" anchor="ctr">
                    <a:solidFill>
                      <a:srgbClr val="121D2B"/>
                    </a:solidFill>
                  </a:tcPr>
                </a:tc>
                <a:tc>
                  <a:txBody>
                    <a:bodyPr/>
                    <a:lstStyle/>
                    <a:p>
                      <a:pPr algn="ctr"/>
                      <a:r>
                        <a:rPr sz="1350" b="0">
                          <a:solidFill>
                            <a:srgbClr val="F3F6F8"/>
                          </a:solidFill>
                          <a:latin typeface="Calibri"/>
                        </a:rPr>
                        <a:t>Gemini gemini-3.1-flash-lite</a:t>
                      </a:r>
                    </a:p>
                  </a:txBody>
                  <a:tcPr marL="73152" marR="73152" marT="32004" marB="32004" anchor="ctr">
                    <a:solidFill>
                      <a:srgbClr val="121D2B"/>
                    </a:solidFill>
                  </a:tcPr>
                </a:tc>
                <a:extLst>
                  <a:ext uri="{0D108BD9-81ED-4DB2-BD59-A6C34878D82A}">
                    <a16:rowId xmlns:a16="http://schemas.microsoft.com/office/drawing/2014/main" val="10005"/>
                  </a:ext>
                </a:extLst>
              </a:tr>
              <a:tr h="514350">
                <a:tc>
                  <a:txBody>
                    <a:bodyPr/>
                    <a:lstStyle/>
                    <a:p>
                      <a:pPr algn="l"/>
                      <a:r>
                        <a:rPr sz="1350" b="0">
                          <a:solidFill>
                            <a:srgbClr val="F3F6F8"/>
                          </a:solidFill>
                          <a:latin typeface="Calibri"/>
                        </a:rPr>
                        <a:t>Component Manager</a:t>
                      </a:r>
                    </a:p>
                  </a:txBody>
                  <a:tcPr marL="73152" marR="73152" marT="32004" marB="32004" anchor="ctr">
                    <a:solidFill>
                      <a:srgbClr val="121D2B"/>
                    </a:solidFill>
                  </a:tcPr>
                </a:tc>
                <a:tc>
                  <a:txBody>
                    <a:bodyPr/>
                    <a:lstStyle/>
                    <a:p>
                      <a:pPr algn="ctr"/>
                      <a:r>
                        <a:rPr sz="1350" b="0">
                          <a:solidFill>
                            <a:srgbClr val="F3F6F8"/>
                          </a:solidFill>
                          <a:latin typeface="Calibri"/>
                        </a:rPr>
                        <a:t>DigiKey search, sourcing, purchase proposals</a:t>
                      </a:r>
                    </a:p>
                  </a:txBody>
                  <a:tcPr marL="73152" marR="73152" marT="32004" marB="32004" anchor="ctr">
                    <a:solidFill>
                      <a:srgbClr val="121D2B"/>
                    </a:solidFill>
                  </a:tcPr>
                </a:tc>
                <a:tc>
                  <a:txBody>
                    <a:bodyPr/>
                    <a:lstStyle/>
                    <a:p>
                      <a:pPr algn="ctr"/>
                      <a:r>
                        <a:rPr sz="1350" b="0">
                          <a:solidFill>
                            <a:srgbClr val="F3F6F8"/>
                          </a:solidFill>
                          <a:latin typeface="Calibri"/>
                        </a:rPr>
                        <a:t>Google ADK agent (System B), via A2A</a:t>
                      </a:r>
                    </a:p>
                  </a:txBody>
                  <a:tcPr marL="73152" marR="73152" marT="32004" marB="32004" anchor="ctr">
                    <a:solidFill>
                      <a:srgbClr val="121D2B"/>
                    </a:solidFill>
                  </a:tcPr>
                </a:tc>
                <a:extLst>
                  <a:ext uri="{0D108BD9-81ED-4DB2-BD59-A6C34878D82A}">
                    <a16:rowId xmlns:a16="http://schemas.microsoft.com/office/drawing/2014/main" val="10006"/>
                  </a:ext>
                </a:extLst>
              </a:tr>
              <a:tr h="514350">
                <a:tc>
                  <a:txBody>
                    <a:bodyPr/>
                    <a:lstStyle/>
                    <a:p>
                      <a:pPr algn="l"/>
                      <a:r>
                        <a:rPr sz="1350" b="0">
                          <a:solidFill>
                            <a:srgbClr val="F3F6F8"/>
                          </a:solidFill>
                          <a:latin typeface="Calibri"/>
                        </a:rPr>
                        <a:t>Guardrails / Judge</a:t>
                      </a:r>
                    </a:p>
                  </a:txBody>
                  <a:tcPr marL="73152" marR="73152" marT="32004" marB="32004" anchor="ctr">
                    <a:solidFill>
                      <a:srgbClr val="121D2B"/>
                    </a:solidFill>
                  </a:tcPr>
                </a:tc>
                <a:tc>
                  <a:txBody>
                    <a:bodyPr/>
                    <a:lstStyle/>
                    <a:p>
                      <a:pPr algn="ctr"/>
                      <a:r>
                        <a:rPr sz="1350" b="0">
                          <a:solidFill>
                            <a:srgbClr val="F3F6F8"/>
                          </a:solidFill>
                          <a:latin typeface="Calibri"/>
                        </a:rPr>
                        <a:t>Input &amp; output safety self-check, eval grading</a:t>
                      </a:r>
                    </a:p>
                  </a:txBody>
                  <a:tcPr marL="73152" marR="73152" marT="32004" marB="32004" anchor="ctr">
                    <a:solidFill>
                      <a:srgbClr val="121D2B"/>
                    </a:solidFill>
                  </a:tcPr>
                </a:tc>
                <a:tc>
                  <a:txBody>
                    <a:bodyPr/>
                    <a:lstStyle/>
                    <a:p>
                      <a:pPr algn="ctr"/>
                      <a:r>
                        <a:rPr sz="1350" b="0">
                          <a:solidFill>
                            <a:srgbClr val="F3F6F8"/>
                          </a:solidFill>
                          <a:latin typeface="Calibri"/>
                        </a:rPr>
                        <a:t>Groq openai/gpt-oss-safeguard-20b</a:t>
                      </a:r>
                    </a:p>
                  </a:txBody>
                  <a:tcPr marL="73152" marR="73152" marT="32004" marB="32004" anchor="ctr">
                    <a:solidFill>
                      <a:srgbClr val="121D2B"/>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Technical Stack</a:t>
            </a:r>
          </a:p>
        </p:txBody>
      </p:sp>
      <p:sp>
        <p:nvSpPr>
          <p:cNvPr id="8" name="TextBox 7"/>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8</a:t>
            </a:r>
          </a:p>
        </p:txBody>
      </p:sp>
      <p:cxnSp>
        <p:nvCxnSpPr>
          <p:cNvPr id="9" name="Connector 8"/>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TRUST &amp; SAFETY</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Nothing writes, renders, or spends without a human in the loop</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965960"/>
            <a:ext cx="5486400" cy="196596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965960"/>
            <a:ext cx="73152" cy="196596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167128"/>
            <a:ext cx="4937760" cy="457200"/>
          </a:xfrm>
          <a:prstGeom prst="rect">
            <a:avLst/>
          </a:prstGeom>
          <a:noFill/>
        </p:spPr>
        <p:txBody>
          <a:bodyPr wrap="square" lIns="0" tIns="0" rIns="0" bIns="0" anchor="t">
            <a:spAutoFit/>
          </a:bodyPr>
          <a:lstStyle/>
          <a:p>
            <a:pPr algn="l">
              <a:lnSpc>
                <a:spcPct val="100000"/>
              </a:lnSpc>
              <a:spcAft>
                <a:spcPts val="0"/>
              </a:spcAft>
            </a:pPr>
            <a:r>
              <a:rPr sz="1600" b="1">
                <a:solidFill>
                  <a:srgbClr val="F3F6F8"/>
                </a:solidFill>
                <a:latin typeface="Calibri"/>
              </a:rPr>
              <a:t>Guardrails as graph nodes</a:t>
            </a:r>
          </a:p>
        </p:txBody>
      </p:sp>
      <p:sp>
        <p:nvSpPr>
          <p:cNvPr id="9" name="TextBox 8"/>
          <p:cNvSpPr txBox="1"/>
          <p:nvPr/>
        </p:nvSpPr>
        <p:spPr>
          <a:xfrm>
            <a:off x="822960" y="2651760"/>
            <a:ext cx="4937760" cy="1188720"/>
          </a:xfrm>
          <a:prstGeom prst="rect">
            <a:avLst/>
          </a:prstGeom>
          <a:noFill/>
        </p:spPr>
        <p:txBody>
          <a:bodyPr wrap="square" lIns="0" tIns="0" rIns="0" bIns="0" anchor="t">
            <a:spAutoFit/>
          </a:bodyPr>
          <a:lstStyle/>
          <a:p>
            <a:pPr algn="l">
              <a:lnSpc>
                <a:spcPct val="128000"/>
              </a:lnSpc>
              <a:spcAft>
                <a:spcPts val="0"/>
              </a:spcAft>
            </a:pPr>
            <a:r>
              <a:rPr sz="1300" b="0">
                <a:solidFill>
                  <a:srgbClr val="92A2B3"/>
                </a:solidFill>
                <a:latin typeface="Calibri"/>
              </a:rPr>
              <a:t>Regex PII masking (emails, phones, cards, SSNs, IPs) runs before an LLM self-check on both input and output — compiled into the LangGraph itself, not bolted on.</a:t>
            </a:r>
          </a:p>
        </p:txBody>
      </p:sp>
      <p:sp>
        <p:nvSpPr>
          <p:cNvPr id="10" name="Rounded Rectangle 9"/>
          <p:cNvSpPr/>
          <p:nvPr/>
        </p:nvSpPr>
        <p:spPr>
          <a:xfrm>
            <a:off x="6217920" y="1965960"/>
            <a:ext cx="5486400" cy="196596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965960"/>
            <a:ext cx="73152" cy="196596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2167128"/>
            <a:ext cx="4937760" cy="457200"/>
          </a:xfrm>
          <a:prstGeom prst="rect">
            <a:avLst/>
          </a:prstGeom>
          <a:noFill/>
        </p:spPr>
        <p:txBody>
          <a:bodyPr wrap="square" lIns="0" tIns="0" rIns="0" bIns="0" anchor="t">
            <a:spAutoFit/>
          </a:bodyPr>
          <a:lstStyle/>
          <a:p>
            <a:pPr algn="l">
              <a:lnSpc>
                <a:spcPct val="100000"/>
              </a:lnSpc>
              <a:spcAft>
                <a:spcPts val="0"/>
              </a:spcAft>
            </a:pPr>
            <a:r>
              <a:rPr sz="1600" b="1">
                <a:solidFill>
                  <a:srgbClr val="F3F6F8"/>
                </a:solidFill>
                <a:latin typeface="Calibri"/>
              </a:rPr>
              <a:t>Human-in-the-loop approval</a:t>
            </a:r>
          </a:p>
        </p:txBody>
      </p:sp>
      <p:sp>
        <p:nvSpPr>
          <p:cNvPr id="13" name="TextBox 12"/>
          <p:cNvSpPr txBox="1"/>
          <p:nvPr/>
        </p:nvSpPr>
        <p:spPr>
          <a:xfrm>
            <a:off x="6537960" y="2651760"/>
            <a:ext cx="4937760" cy="1188720"/>
          </a:xfrm>
          <a:prstGeom prst="rect">
            <a:avLst/>
          </a:prstGeom>
          <a:noFill/>
        </p:spPr>
        <p:txBody>
          <a:bodyPr wrap="square" lIns="0" tIns="0" rIns="0" bIns="0" anchor="t">
            <a:spAutoFit/>
          </a:bodyPr>
          <a:lstStyle/>
          <a:p>
            <a:pPr algn="l">
              <a:lnSpc>
                <a:spcPct val="128000"/>
              </a:lnSpc>
              <a:spcAft>
                <a:spcPts val="0"/>
              </a:spcAft>
            </a:pPr>
            <a:r>
              <a:rPr sz="1300" b="0">
                <a:solidFill>
                  <a:srgbClr val="92A2B3"/>
                </a:solidFill>
                <a:latin typeface="Calibri"/>
              </a:rPr>
              <a:t>A dedicated node calls interrupt() before any side-effecting specialist (code write, render, purchase). Approve or reject resumes the exact paused graph state via Command(resume=...).</a:t>
            </a:r>
          </a:p>
        </p:txBody>
      </p:sp>
      <p:sp>
        <p:nvSpPr>
          <p:cNvPr id="14" name="Rounded Rectangle 13"/>
          <p:cNvSpPr/>
          <p:nvPr/>
        </p:nvSpPr>
        <p:spPr>
          <a:xfrm>
            <a:off x="502920" y="4160520"/>
            <a:ext cx="5486400" cy="196596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4160520"/>
            <a:ext cx="73152" cy="196596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4361688"/>
            <a:ext cx="4937760" cy="457200"/>
          </a:xfrm>
          <a:prstGeom prst="rect">
            <a:avLst/>
          </a:prstGeom>
          <a:noFill/>
        </p:spPr>
        <p:txBody>
          <a:bodyPr wrap="square" lIns="0" tIns="0" rIns="0" bIns="0" anchor="t">
            <a:spAutoFit/>
          </a:bodyPr>
          <a:lstStyle/>
          <a:p>
            <a:pPr algn="l">
              <a:lnSpc>
                <a:spcPct val="100000"/>
              </a:lnSpc>
              <a:spcAft>
                <a:spcPts val="0"/>
              </a:spcAft>
            </a:pPr>
            <a:r>
              <a:rPr sz="1600" b="1">
                <a:solidFill>
                  <a:srgbClr val="F3F6F8"/>
                </a:solidFill>
                <a:latin typeface="Calibri"/>
              </a:rPr>
              <a:t>AP2 payment mandates</a:t>
            </a:r>
          </a:p>
        </p:txBody>
      </p:sp>
      <p:sp>
        <p:nvSpPr>
          <p:cNvPr id="17" name="TextBox 16"/>
          <p:cNvSpPr txBox="1"/>
          <p:nvPr/>
        </p:nvSpPr>
        <p:spPr>
          <a:xfrm>
            <a:off x="822960" y="4846320"/>
            <a:ext cx="4937760" cy="1188720"/>
          </a:xfrm>
          <a:prstGeom prst="rect">
            <a:avLst/>
          </a:prstGeom>
          <a:noFill/>
        </p:spPr>
        <p:txBody>
          <a:bodyPr wrap="square" lIns="0" tIns="0" rIns="0" bIns="0" anchor="t">
            <a:spAutoFit/>
          </a:bodyPr>
          <a:lstStyle/>
          <a:p>
            <a:pPr algn="l">
              <a:lnSpc>
                <a:spcPct val="128000"/>
              </a:lnSpc>
              <a:spcAft>
                <a:spcPts val="0"/>
              </a:spcAft>
            </a:pPr>
            <a:r>
              <a:rPr sz="1300" b="0">
                <a:solidFill>
                  <a:srgbClr val="92A2B3"/>
                </a:solidFill>
                <a:latin typeface="Calibri"/>
              </a:rPr>
              <a:t>Every purchase needs an explicit user-approved mandate validating user, merchant, amount, items, expiry, nonce and single-use — before PaymentService ever runs.</a:t>
            </a:r>
          </a:p>
        </p:txBody>
      </p:sp>
      <p:sp>
        <p:nvSpPr>
          <p:cNvPr id="18" name="Rounded Rectangle 17"/>
          <p:cNvSpPr/>
          <p:nvPr/>
        </p:nvSpPr>
        <p:spPr>
          <a:xfrm>
            <a:off x="6217920" y="4160520"/>
            <a:ext cx="5486400" cy="1965960"/>
          </a:xfrm>
          <a:prstGeom prst="roundRect">
            <a:avLst>
              <a:gd name="adj" fmla="val 6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4160520"/>
            <a:ext cx="73152" cy="196596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4361688"/>
            <a:ext cx="4937760" cy="457200"/>
          </a:xfrm>
          <a:prstGeom prst="rect">
            <a:avLst/>
          </a:prstGeom>
          <a:noFill/>
        </p:spPr>
        <p:txBody>
          <a:bodyPr wrap="square" lIns="0" tIns="0" rIns="0" bIns="0" anchor="t">
            <a:spAutoFit/>
          </a:bodyPr>
          <a:lstStyle/>
          <a:p>
            <a:pPr algn="l">
              <a:lnSpc>
                <a:spcPct val="100000"/>
              </a:lnSpc>
              <a:spcAft>
                <a:spcPts val="0"/>
              </a:spcAft>
            </a:pPr>
            <a:r>
              <a:rPr sz="1600" b="1">
                <a:solidFill>
                  <a:srgbClr val="F3F6F8"/>
                </a:solidFill>
                <a:latin typeface="Calibri"/>
              </a:rPr>
              <a:t>Isolated payment vault</a:t>
            </a:r>
          </a:p>
        </p:txBody>
      </p:sp>
      <p:sp>
        <p:nvSpPr>
          <p:cNvPr id="21" name="TextBox 20"/>
          <p:cNvSpPr txBox="1"/>
          <p:nvPr/>
        </p:nvSpPr>
        <p:spPr>
          <a:xfrm>
            <a:off x="6537960" y="4846320"/>
            <a:ext cx="4937760" cy="1188720"/>
          </a:xfrm>
          <a:prstGeom prst="rect">
            <a:avLst/>
          </a:prstGeom>
          <a:noFill/>
        </p:spPr>
        <p:txBody>
          <a:bodyPr wrap="square" lIns="0" tIns="0" rIns="0" bIns="0" anchor="t">
            <a:spAutoFit/>
          </a:bodyPr>
          <a:lstStyle/>
          <a:p>
            <a:pPr algn="l">
              <a:lnSpc>
                <a:spcPct val="128000"/>
              </a:lnSpc>
              <a:spcAft>
                <a:spcPts val="0"/>
              </a:spcAft>
            </a:pPr>
            <a:r>
              <a:rPr sz="1300" b="0">
                <a:solidFill>
                  <a:srgbClr val="92A2B3"/>
                </a:solidFill>
                <a:latin typeface="Calibri"/>
              </a:rPr>
              <a:t>The model only ever sees a payment_method_id and a display string. PANs, CVVs and Lithic API keys never enter LangGraph state, logs, or model context.</a:t>
            </a:r>
          </a:p>
        </p:txBody>
      </p:sp>
      <p:sp>
        <p:nvSpPr>
          <p:cNvPr id="22" name="TextBox 21"/>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Technical Stack</a:t>
            </a:r>
          </a:p>
        </p:txBody>
      </p:sp>
      <p:sp>
        <p:nvSpPr>
          <p:cNvPr id="23" name="TextBox 22"/>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9</a:t>
            </a:r>
          </a:p>
        </p:txBody>
      </p:sp>
      <p:cxnSp>
        <p:nvCxnSpPr>
          <p:cNvPr id="24" name="Connector 23"/>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FULL STACK</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By layer</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828800"/>
          <a:ext cx="11201398" cy="4343400"/>
        </p:xfrm>
        <a:graphic>
          <a:graphicData uri="http://schemas.openxmlformats.org/drawingml/2006/table">
            <a:tbl>
              <a:tblPr>
                <a:tableStyleId>{5C22544A-7EE6-4342-B048-85BDC9FD1C3A}</a:tableStyleId>
              </a:tblPr>
              <a:tblGrid>
                <a:gridCol w="2103119">
                  <a:extLst>
                    <a:ext uri="{9D8B030D-6E8A-4147-A177-3AD203B41FA5}">
                      <a16:colId xmlns:a16="http://schemas.microsoft.com/office/drawing/2014/main" val="20000"/>
                    </a:ext>
                  </a:extLst>
                </a:gridCol>
                <a:gridCol w="9098279">
                  <a:extLst>
                    <a:ext uri="{9D8B030D-6E8A-4147-A177-3AD203B41FA5}">
                      <a16:colId xmlns:a16="http://schemas.microsoft.com/office/drawing/2014/main" val="20001"/>
                    </a:ext>
                  </a:extLst>
                </a:gridCol>
              </a:tblGrid>
              <a:tr h="482600">
                <a:tc>
                  <a:txBody>
                    <a:bodyPr/>
                    <a:lstStyle/>
                    <a:p>
                      <a:pPr algn="l"/>
                      <a:r>
                        <a:rPr sz="1450" b="1">
                          <a:solidFill>
                            <a:srgbClr val="33DDC2"/>
                          </a:solidFill>
                          <a:latin typeface="Calibri"/>
                        </a:rPr>
                        <a:t>Layer</a:t>
                      </a:r>
                    </a:p>
                  </a:txBody>
                  <a:tcPr marL="73152" marR="73152" marT="36576" marB="36576" anchor="ctr">
                    <a:solidFill>
                      <a:srgbClr val="172435"/>
                    </a:solidFill>
                  </a:tcPr>
                </a:tc>
                <a:tc>
                  <a:txBody>
                    <a:bodyPr/>
                    <a:lstStyle/>
                    <a:p>
                      <a:pPr algn="ctr"/>
                      <a:r>
                        <a:rPr sz="1450" b="1">
                          <a:solidFill>
                            <a:srgbClr val="33DDC2"/>
                          </a:solidFill>
                          <a:latin typeface="Calibri"/>
                        </a:rPr>
                        <a:t>Technologies</a:t>
                      </a:r>
                    </a:p>
                  </a:txBody>
                  <a:tcPr marL="73152" marR="73152" marT="36576" marB="36576" anchor="ctr">
                    <a:solidFill>
                      <a:srgbClr val="172435"/>
                    </a:solidFill>
                  </a:tcPr>
                </a:tc>
                <a:extLst>
                  <a:ext uri="{0D108BD9-81ED-4DB2-BD59-A6C34878D82A}">
                    <a16:rowId xmlns:a16="http://schemas.microsoft.com/office/drawing/2014/main" val="10000"/>
                  </a:ext>
                </a:extLst>
              </a:tr>
              <a:tr h="482600">
                <a:tc>
                  <a:txBody>
                    <a:bodyPr/>
                    <a:lstStyle/>
                    <a:p>
                      <a:pPr algn="l"/>
                      <a:r>
                        <a:rPr sz="1350" b="0">
                          <a:solidFill>
                            <a:srgbClr val="F3F6F8"/>
                          </a:solidFill>
                          <a:latin typeface="Calibri"/>
                        </a:rPr>
                        <a:t>Frontend</a:t>
                      </a:r>
                    </a:p>
                  </a:txBody>
                  <a:tcPr marL="73152" marR="73152" marT="32004" marB="32004" anchor="ctr">
                    <a:solidFill>
                      <a:srgbClr val="121D2B"/>
                    </a:solidFill>
                  </a:tcPr>
                </a:tc>
                <a:tc>
                  <a:txBody>
                    <a:bodyPr/>
                    <a:lstStyle/>
                    <a:p>
                      <a:pPr algn="ctr"/>
                      <a:r>
                        <a:rPr sz="1350" b="0">
                          <a:solidFill>
                            <a:srgbClr val="F3F6F8"/>
                          </a:solidFill>
                          <a:latin typeface="Calibri"/>
                        </a:rPr>
                        <a:t>React 19, TypeScript, Vite, TanStack Query, react-markdown</a:t>
                      </a:r>
                    </a:p>
                  </a:txBody>
                  <a:tcPr marL="73152" marR="73152" marT="32004" marB="32004" anchor="ctr">
                    <a:solidFill>
                      <a:srgbClr val="121D2B"/>
                    </a:solidFill>
                  </a:tcPr>
                </a:tc>
                <a:extLst>
                  <a:ext uri="{0D108BD9-81ED-4DB2-BD59-A6C34878D82A}">
                    <a16:rowId xmlns:a16="http://schemas.microsoft.com/office/drawing/2014/main" val="10001"/>
                  </a:ext>
                </a:extLst>
              </a:tr>
              <a:tr h="482600">
                <a:tc>
                  <a:txBody>
                    <a:bodyPr/>
                    <a:lstStyle/>
                    <a:p>
                      <a:pPr algn="l"/>
                      <a:r>
                        <a:rPr sz="1350" b="0">
                          <a:solidFill>
                            <a:srgbClr val="F3F6F8"/>
                          </a:solidFill>
                          <a:latin typeface="Calibri"/>
                        </a:rPr>
                        <a:t>Orchestration</a:t>
                      </a:r>
                    </a:p>
                  </a:txBody>
                  <a:tcPr marL="73152" marR="73152" marT="32004" marB="32004" anchor="ctr">
                    <a:solidFill>
                      <a:srgbClr val="121D2B"/>
                    </a:solidFill>
                  </a:tcPr>
                </a:tc>
                <a:tc>
                  <a:txBody>
                    <a:bodyPr/>
                    <a:lstStyle/>
                    <a:p>
                      <a:pPr algn="ctr"/>
                      <a:r>
                        <a:rPr sz="1350" b="0">
                          <a:solidFill>
                            <a:srgbClr val="F3F6F8"/>
                          </a:solidFill>
                          <a:latin typeface="Calibri"/>
                        </a:rPr>
                        <a:t>LangGraph (supervisor graph + checkpointing), FastAPI</a:t>
                      </a:r>
                    </a:p>
                  </a:txBody>
                  <a:tcPr marL="73152" marR="73152" marT="32004" marB="32004" anchor="ctr">
                    <a:solidFill>
                      <a:srgbClr val="121D2B"/>
                    </a:solidFill>
                  </a:tcPr>
                </a:tc>
                <a:extLst>
                  <a:ext uri="{0D108BD9-81ED-4DB2-BD59-A6C34878D82A}">
                    <a16:rowId xmlns:a16="http://schemas.microsoft.com/office/drawing/2014/main" val="10002"/>
                  </a:ext>
                </a:extLst>
              </a:tr>
              <a:tr h="482600">
                <a:tc>
                  <a:txBody>
                    <a:bodyPr/>
                    <a:lstStyle/>
                    <a:p>
                      <a:pPr algn="l"/>
                      <a:r>
                        <a:rPr sz="1350" b="0">
                          <a:solidFill>
                            <a:srgbClr val="F3F6F8"/>
                          </a:solidFill>
                          <a:latin typeface="Calibri"/>
                        </a:rPr>
                        <a:t>Models</a:t>
                      </a:r>
                    </a:p>
                  </a:txBody>
                  <a:tcPr marL="73152" marR="73152" marT="32004" marB="32004" anchor="ctr">
                    <a:solidFill>
                      <a:srgbClr val="121D2B"/>
                    </a:solidFill>
                  </a:tcPr>
                </a:tc>
                <a:tc>
                  <a:txBody>
                    <a:bodyPr/>
                    <a:lstStyle/>
                    <a:p>
                      <a:pPr algn="ctr"/>
                      <a:r>
                        <a:rPr sz="1350" b="0">
                          <a:solidFill>
                            <a:srgbClr val="F3F6F8"/>
                          </a:solidFill>
                          <a:latin typeface="Calibri"/>
                        </a:rPr>
                        <a:t>Groq (gpt-oss-120b, qwen3.6-27b, gpt-oss-safeguard-20b), Google Gemini (gemini-3.1-flash-lite)</a:t>
                      </a:r>
                    </a:p>
                  </a:txBody>
                  <a:tcPr marL="73152" marR="73152" marT="32004" marB="32004" anchor="ctr">
                    <a:solidFill>
                      <a:srgbClr val="121D2B"/>
                    </a:solidFill>
                  </a:tcPr>
                </a:tc>
                <a:extLst>
                  <a:ext uri="{0D108BD9-81ED-4DB2-BD59-A6C34878D82A}">
                    <a16:rowId xmlns:a16="http://schemas.microsoft.com/office/drawing/2014/main" val="10003"/>
                  </a:ext>
                </a:extLst>
              </a:tr>
              <a:tr h="482600">
                <a:tc>
                  <a:txBody>
                    <a:bodyPr/>
                    <a:lstStyle/>
                    <a:p>
                      <a:pPr algn="l"/>
                      <a:r>
                        <a:rPr sz="1350" b="0">
                          <a:solidFill>
                            <a:srgbClr val="F3F6F8"/>
                          </a:solidFill>
                          <a:latin typeface="Calibri"/>
                        </a:rPr>
                        <a:t>RAG / Retrieval</a:t>
                      </a:r>
                    </a:p>
                  </a:txBody>
                  <a:tcPr marL="73152" marR="73152" marT="32004" marB="32004" anchor="ctr">
                    <a:solidFill>
                      <a:srgbClr val="121D2B"/>
                    </a:solidFill>
                  </a:tcPr>
                </a:tc>
                <a:tc>
                  <a:txBody>
                    <a:bodyPr/>
                    <a:lstStyle/>
                    <a:p>
                      <a:pPr algn="ctr"/>
                      <a:r>
                        <a:rPr sz="1350" b="0">
                          <a:solidFill>
                            <a:srgbClr val="F3F6F8"/>
                          </a:solidFill>
                          <a:latin typeface="Calibri"/>
                        </a:rPr>
                        <a:t>FastMCP Streamable HTTP server, Qdrant vector DB, sentence-transformers, rank-bm25 hybrid search</a:t>
                      </a:r>
                    </a:p>
                  </a:txBody>
                  <a:tcPr marL="73152" marR="73152" marT="32004" marB="32004" anchor="ctr">
                    <a:solidFill>
                      <a:srgbClr val="121D2B"/>
                    </a:solidFill>
                  </a:tcPr>
                </a:tc>
                <a:extLst>
                  <a:ext uri="{0D108BD9-81ED-4DB2-BD59-A6C34878D82A}">
                    <a16:rowId xmlns:a16="http://schemas.microsoft.com/office/drawing/2014/main" val="10004"/>
                  </a:ext>
                </a:extLst>
              </a:tr>
              <a:tr h="482600">
                <a:tc>
                  <a:txBody>
                    <a:bodyPr/>
                    <a:lstStyle/>
                    <a:p>
                      <a:pPr algn="l"/>
                      <a:r>
                        <a:rPr sz="1350" b="0">
                          <a:solidFill>
                            <a:srgbClr val="F3F6F8"/>
                          </a:solidFill>
                          <a:latin typeface="Calibri"/>
                        </a:rPr>
                        <a:t>Commerce</a:t>
                      </a:r>
                    </a:p>
                  </a:txBody>
                  <a:tcPr marL="73152" marR="73152" marT="32004" marB="32004" anchor="ctr">
                    <a:solidFill>
                      <a:srgbClr val="121D2B"/>
                    </a:solidFill>
                  </a:tcPr>
                </a:tc>
                <a:tc>
                  <a:txBody>
                    <a:bodyPr/>
                    <a:lstStyle/>
                    <a:p>
                      <a:pPr algn="ctr"/>
                      <a:r>
                        <a:rPr sz="1350" b="0">
                          <a:solidFill>
                            <a:srgbClr val="F3F6F8"/>
                          </a:solidFill>
                          <a:latin typeface="Calibri"/>
                        </a:rPr>
                        <a:t>Google AP2 protocol, A2A SDK, DigiKey Product Information API, Lithic Sandbox virtual cards</a:t>
                      </a:r>
                    </a:p>
                  </a:txBody>
                  <a:tcPr marL="73152" marR="73152" marT="32004" marB="32004" anchor="ctr">
                    <a:solidFill>
                      <a:srgbClr val="121D2B"/>
                    </a:solidFill>
                  </a:tcPr>
                </a:tc>
                <a:extLst>
                  <a:ext uri="{0D108BD9-81ED-4DB2-BD59-A6C34878D82A}">
                    <a16:rowId xmlns:a16="http://schemas.microsoft.com/office/drawing/2014/main" val="10005"/>
                  </a:ext>
                </a:extLst>
              </a:tr>
              <a:tr h="482600">
                <a:tc>
                  <a:txBody>
                    <a:bodyPr/>
                    <a:lstStyle/>
                    <a:p>
                      <a:pPr algn="l"/>
                      <a:r>
                        <a:rPr sz="1350" b="0">
                          <a:solidFill>
                            <a:srgbClr val="F3F6F8"/>
                          </a:solidFill>
                          <a:latin typeface="Calibri"/>
                        </a:rPr>
                        <a:t>Voice</a:t>
                      </a:r>
                    </a:p>
                  </a:txBody>
                  <a:tcPr marL="73152" marR="73152" marT="32004" marB="32004" anchor="ctr">
                    <a:solidFill>
                      <a:srgbClr val="121D2B"/>
                    </a:solidFill>
                  </a:tcPr>
                </a:tc>
                <a:tc>
                  <a:txBody>
                    <a:bodyPr/>
                    <a:lstStyle/>
                    <a:p>
                      <a:pPr algn="ctr"/>
                      <a:r>
                        <a:rPr sz="1350" b="0">
                          <a:solidFill>
                            <a:srgbClr val="F3F6F8"/>
                          </a:solidFill>
                          <a:latin typeface="Calibri"/>
                        </a:rPr>
                        <a:t>faster-whisper (local transcription)</a:t>
                      </a:r>
                    </a:p>
                  </a:txBody>
                  <a:tcPr marL="73152" marR="73152" marT="32004" marB="32004" anchor="ctr">
                    <a:solidFill>
                      <a:srgbClr val="121D2B"/>
                    </a:solidFill>
                  </a:tcPr>
                </a:tc>
                <a:extLst>
                  <a:ext uri="{0D108BD9-81ED-4DB2-BD59-A6C34878D82A}">
                    <a16:rowId xmlns:a16="http://schemas.microsoft.com/office/drawing/2014/main" val="10006"/>
                  </a:ext>
                </a:extLst>
              </a:tr>
              <a:tr h="482600">
                <a:tc>
                  <a:txBody>
                    <a:bodyPr/>
                    <a:lstStyle/>
                    <a:p>
                      <a:pPr algn="l"/>
                      <a:r>
                        <a:rPr sz="1350" b="0">
                          <a:solidFill>
                            <a:srgbClr val="F3F6F8"/>
                          </a:solidFill>
                          <a:latin typeface="Calibri"/>
                        </a:rPr>
                        <a:t>Persistence</a:t>
                      </a:r>
                    </a:p>
                  </a:txBody>
                  <a:tcPr marL="73152" marR="73152" marT="32004" marB="32004" anchor="ctr">
                    <a:solidFill>
                      <a:srgbClr val="121D2B"/>
                    </a:solidFill>
                  </a:tcPr>
                </a:tc>
                <a:tc>
                  <a:txBody>
                    <a:bodyPr/>
                    <a:lstStyle/>
                    <a:p>
                      <a:pPr algn="ctr"/>
                      <a:r>
                        <a:rPr sz="1350" b="0">
                          <a:solidFill>
                            <a:srgbClr val="F3F6F8"/>
                          </a:solidFill>
                          <a:latin typeface="Calibri"/>
                        </a:rPr>
                        <a:t>SQLite (aiosqlite) + langgraph-checkpoint-sqlite, per-service data volumes</a:t>
                      </a:r>
                    </a:p>
                  </a:txBody>
                  <a:tcPr marL="73152" marR="73152" marT="32004" marB="32004" anchor="ctr">
                    <a:solidFill>
                      <a:srgbClr val="121D2B"/>
                    </a:solidFill>
                  </a:tcPr>
                </a:tc>
                <a:extLst>
                  <a:ext uri="{0D108BD9-81ED-4DB2-BD59-A6C34878D82A}">
                    <a16:rowId xmlns:a16="http://schemas.microsoft.com/office/drawing/2014/main" val="10007"/>
                  </a:ext>
                </a:extLst>
              </a:tr>
              <a:tr h="482600">
                <a:tc>
                  <a:txBody>
                    <a:bodyPr/>
                    <a:lstStyle/>
                    <a:p>
                      <a:pPr algn="l"/>
                      <a:r>
                        <a:rPr sz="1350" b="0">
                          <a:solidFill>
                            <a:srgbClr val="F3F6F8"/>
                          </a:solidFill>
                          <a:latin typeface="Calibri"/>
                        </a:rPr>
                        <a:t>Infra</a:t>
                      </a:r>
                    </a:p>
                  </a:txBody>
                  <a:tcPr marL="73152" marR="73152" marT="32004" marB="32004" anchor="ctr">
                    <a:solidFill>
                      <a:srgbClr val="121D2B"/>
                    </a:solidFill>
                  </a:tcPr>
                </a:tc>
                <a:tc>
                  <a:txBody>
                    <a:bodyPr/>
                    <a:lstStyle/>
                    <a:p>
                      <a:pPr algn="ctr"/>
                      <a:r>
                        <a:rPr sz="1350" b="0">
                          <a:solidFill>
                            <a:srgbClr val="F3F6F8"/>
                          </a:solidFill>
                          <a:latin typeface="Calibri"/>
                        </a:rPr>
                        <a:t>Docker Compose — 5 services (frontend, Agent A, Agent B, MCP server, Qdrant)</a:t>
                      </a:r>
                    </a:p>
                  </a:txBody>
                  <a:tcPr marL="73152" marR="73152" marT="32004" marB="32004" anchor="ctr">
                    <a:solidFill>
                      <a:srgbClr val="121D2B"/>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Technical Stack</a:t>
            </a:r>
          </a:p>
        </p:txBody>
      </p:sp>
      <p:sp>
        <p:nvSpPr>
          <p:cNvPr id="8" name="TextBox 7"/>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10</a:t>
            </a:r>
          </a:p>
        </p:txBody>
      </p:sp>
      <p:cxnSp>
        <p:nvCxnSpPr>
          <p:cNvPr id="9" name="Connector 8"/>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121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880360"/>
            <a:ext cx="1188720" cy="5080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108960"/>
            <a:ext cx="9144000" cy="365760"/>
          </a:xfrm>
          <a:prstGeom prst="rect">
            <a:avLst/>
          </a:prstGeom>
          <a:noFill/>
        </p:spPr>
        <p:txBody>
          <a:bodyPr wrap="square" lIns="0" tIns="0" rIns="0" bIns="0" anchor="t">
            <a:spAutoFit/>
          </a:bodyPr>
          <a:lstStyle/>
          <a:p>
            <a:pPr algn="l">
              <a:lnSpc>
                <a:spcPct val="100000"/>
              </a:lnSpc>
              <a:spcAft>
                <a:spcPts val="0"/>
              </a:spcAft>
            </a:pPr>
            <a:r>
              <a:rPr sz="1500" b="1">
                <a:solidFill>
                  <a:srgbClr val="33DDC2"/>
                </a:solidFill>
                <a:latin typeface="Calibri"/>
              </a:rPr>
              <a:t>PART THREE</a:t>
            </a:r>
          </a:p>
        </p:txBody>
      </p:sp>
      <p:sp>
        <p:nvSpPr>
          <p:cNvPr id="6" name="TextBox 5"/>
          <p:cNvSpPr txBox="1"/>
          <p:nvPr/>
        </p:nvSpPr>
        <p:spPr>
          <a:xfrm>
            <a:off x="502920" y="3474720"/>
            <a:ext cx="10058400" cy="914400"/>
          </a:xfrm>
          <a:prstGeom prst="rect">
            <a:avLst/>
          </a:prstGeom>
          <a:noFill/>
        </p:spPr>
        <p:txBody>
          <a:bodyPr wrap="square" lIns="0" tIns="0" rIns="0" bIns="0" anchor="t">
            <a:spAutoFit/>
          </a:bodyPr>
          <a:lstStyle/>
          <a:p>
            <a:pPr algn="l">
              <a:lnSpc>
                <a:spcPct val="100000"/>
              </a:lnSpc>
              <a:spcAft>
                <a:spcPts val="0"/>
              </a:spcAft>
            </a:pPr>
            <a:r>
              <a:rPr sz="4400" b="1">
                <a:solidFill>
                  <a:srgbClr val="F3F6F8"/>
                </a:solidFill>
                <a:latin typeface="Calibri"/>
              </a:rPr>
              <a:t>Evaluation</a:t>
            </a:r>
          </a:p>
        </p:txBody>
      </p:sp>
      <p:sp>
        <p:nvSpPr>
          <p:cNvPr id="7" name="TextBox 6"/>
          <p:cNvSpPr txBox="1"/>
          <p:nvPr/>
        </p:nvSpPr>
        <p:spPr>
          <a:xfrm>
            <a:off x="502920" y="4251960"/>
            <a:ext cx="9601200" cy="548640"/>
          </a:xfrm>
          <a:prstGeom prst="rect">
            <a:avLst/>
          </a:prstGeom>
          <a:noFill/>
        </p:spPr>
        <p:txBody>
          <a:bodyPr wrap="square" lIns="0" tIns="0" rIns="0" bIns="0" anchor="t">
            <a:spAutoFit/>
          </a:bodyPr>
          <a:lstStyle/>
          <a:p>
            <a:pPr algn="l">
              <a:lnSpc>
                <a:spcPct val="100000"/>
              </a:lnSpc>
              <a:spcAft>
                <a:spcPts val="0"/>
              </a:spcAft>
            </a:pPr>
            <a:r>
              <a:rPr sz="1700" b="0">
                <a:solidFill>
                  <a:srgbClr val="92A2B3"/>
                </a:solidFill>
                <a:latin typeface="Calibri"/>
              </a:rPr>
              <a:t>From 51.7% case-pass to a clean 100% — measured, not assumed.</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11</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METHODOLOGY</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Two golden datasets, two evaluation families</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65960"/>
            <a:ext cx="5577840" cy="4206240"/>
          </a:xfrm>
          <a:prstGeom prst="rect">
            <a:avLst/>
          </a:prstGeom>
          <a:noFill/>
        </p:spPr>
        <p:txBody>
          <a:bodyPr wrap="square" lIns="0" tIns="0" rIns="0" bIns="0" anchor="t">
            <a:spAutoFit/>
          </a:bodyPr>
          <a:lstStyle/>
          <a:p>
            <a:pPr marL="256032" indent="-256032" algn="l">
              <a:lnSpc>
                <a:spcPct val="115000"/>
              </a:lnSpc>
              <a:spcAft>
                <a:spcPts val="200"/>
              </a:spcAft>
              <a:buFont typeface="Calibri"/>
              <a:buChar char="›"/>
            </a:pPr>
            <a:r>
              <a:rPr sz="1400" b="1">
                <a:solidFill>
                  <a:srgbClr val="F3F6F8"/>
                </a:solidFill>
                <a:latin typeface="Calibri"/>
              </a:rPr>
              <a:t>Two golden datasets, graded separately</a:t>
            </a:r>
          </a:p>
          <a:p>
            <a:pPr algn="l">
              <a:lnSpc>
                <a:spcPct val="115000"/>
              </a:lnSpc>
              <a:spcAft>
                <a:spcPts val="1000"/>
              </a:spcAft>
            </a:pPr>
            <a:r>
              <a:rPr sz="1100" b="0">
                <a:solidFill>
                  <a:srgbClr val="92A2B3"/>
                </a:solidFill>
                <a:latin typeface="Calibri"/>
              </a:rPr>
              <a:t>A 28-case agent dataset (routing, tools, guardrails, approvals) and a 50-question Arduino RAG dataset (retrieval ranking + RAGAS generation quality) — never blended into one score.</a:t>
            </a:r>
          </a:p>
          <a:p>
            <a:pPr marL="256032" indent="-256032" algn="l">
              <a:lnSpc>
                <a:spcPct val="115000"/>
              </a:lnSpc>
              <a:spcAft>
                <a:spcPts val="200"/>
              </a:spcAft>
              <a:buFont typeface="Calibri"/>
              <a:buChar char="›"/>
            </a:pPr>
            <a:r>
              <a:rPr sz="1400" b="1">
                <a:solidFill>
                  <a:srgbClr val="F3F6F8"/>
                </a:solidFill>
                <a:latin typeface="Calibri"/>
              </a:rPr>
              <a:t>Independent metrics, never conflated</a:t>
            </a:r>
          </a:p>
          <a:p>
            <a:pPr algn="l">
              <a:lnSpc>
                <a:spcPct val="115000"/>
              </a:lnSpc>
              <a:spcAft>
                <a:spcPts val="1000"/>
              </a:spcAft>
            </a:pPr>
            <a:r>
              <a:rPr sz="1100" b="0">
                <a:solidFill>
                  <a:srgbClr val="92A2B3"/>
                </a:solidFill>
                <a:latin typeface="Calibri"/>
              </a:rPr>
              <a:t>Route, tool selection, tool order, guardrails, approvals and project state are checked separately — case_pass is their conjunction, not a proxy.</a:t>
            </a:r>
          </a:p>
          <a:p>
            <a:pPr marL="256032" indent="-256032" algn="l">
              <a:lnSpc>
                <a:spcPct val="115000"/>
              </a:lnSpc>
              <a:spcAft>
                <a:spcPts val="200"/>
              </a:spcAft>
              <a:buFont typeface="Calibri"/>
              <a:buChar char="›"/>
            </a:pPr>
            <a:r>
              <a:rPr sz="1400" b="1">
                <a:solidFill>
                  <a:srgbClr val="F3F6F8"/>
                </a:solidFill>
                <a:latin typeface="Calibri"/>
              </a:rPr>
              <a:t>LLM-judged task completion</a:t>
            </a:r>
          </a:p>
          <a:p>
            <a:pPr algn="l">
              <a:lnSpc>
                <a:spcPct val="115000"/>
              </a:lnSpc>
              <a:spcAft>
                <a:spcPts val="1000"/>
              </a:spcAft>
            </a:pPr>
            <a:r>
              <a:rPr sz="1100" b="0">
                <a:solidFill>
                  <a:srgbClr val="92A2B3"/>
                </a:solidFill>
                <a:latin typeface="Calibri"/>
              </a:rPr>
              <a:t>For cases with a stated goal, evaluation/judge.py grades whether the final answer actually accomplished it — not a string match.</a:t>
            </a:r>
          </a:p>
          <a:p>
            <a:pPr marL="256032" indent="-256032" algn="l">
              <a:lnSpc>
                <a:spcPct val="115000"/>
              </a:lnSpc>
              <a:spcAft>
                <a:spcPts val="200"/>
              </a:spcAft>
              <a:buFont typeface="Calibri"/>
              <a:buChar char="›"/>
            </a:pPr>
            <a:r>
              <a:rPr sz="1400" b="1">
                <a:solidFill>
                  <a:srgbClr val="F3F6F8"/>
                </a:solidFill>
                <a:latin typeface="Calibri"/>
              </a:rPr>
              <a:t>Cost &amp; efficiency tracked per case</a:t>
            </a:r>
          </a:p>
          <a:p>
            <a:pPr algn="l">
              <a:lnSpc>
                <a:spcPct val="115000"/>
              </a:lnSpc>
              <a:spcAft>
                <a:spcPts val="1000"/>
              </a:spcAft>
            </a:pPr>
            <a:r>
              <a:rPr sz="1100" b="0">
                <a:solidFill>
                  <a:srgbClr val="92A2B3"/>
                </a:solidFill>
                <a:latin typeface="Calibri"/>
              </a:rPr>
              <a:t>Every graph run is wrapped with a token-usage collector, priced against live provider rates; step_efficiency_ratio flags wasted iterations.</a:t>
            </a:r>
          </a:p>
        </p:txBody>
      </p:sp>
      <p:graphicFrame>
        <p:nvGraphicFramePr>
          <p:cNvPr id="7" name="Table 6"/>
          <p:cNvGraphicFramePr>
            <a:graphicFrameLocks noGrp="1"/>
          </p:cNvGraphicFramePr>
          <p:nvPr/>
        </p:nvGraphicFramePr>
        <p:xfrm>
          <a:off x="6400800" y="1965960"/>
          <a:ext cx="5303519" cy="402336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3291839">
                  <a:extLst>
                    <a:ext uri="{9D8B030D-6E8A-4147-A177-3AD203B41FA5}">
                      <a16:colId xmlns:a16="http://schemas.microsoft.com/office/drawing/2014/main" val="20001"/>
                    </a:ext>
                  </a:extLst>
                </a:gridCol>
              </a:tblGrid>
              <a:tr h="574765">
                <a:tc>
                  <a:txBody>
                    <a:bodyPr/>
                    <a:lstStyle/>
                    <a:p>
                      <a:pPr algn="l"/>
                      <a:r>
                        <a:rPr sz="1350" b="1">
                          <a:solidFill>
                            <a:srgbClr val="33DDC2"/>
                          </a:solidFill>
                          <a:latin typeface="Calibri"/>
                        </a:rPr>
                        <a:t>Metric</a:t>
                      </a:r>
                    </a:p>
                  </a:txBody>
                  <a:tcPr marL="73152" marR="73152" marT="36576" marB="36576" anchor="ctr">
                    <a:solidFill>
                      <a:srgbClr val="172435"/>
                    </a:solidFill>
                  </a:tcPr>
                </a:tc>
                <a:tc>
                  <a:txBody>
                    <a:bodyPr/>
                    <a:lstStyle/>
                    <a:p>
                      <a:pPr algn="ctr"/>
                      <a:r>
                        <a:rPr sz="1350" b="1">
                          <a:solidFill>
                            <a:srgbClr val="33DDC2"/>
                          </a:solidFill>
                          <a:latin typeface="Calibri"/>
                        </a:rPr>
                        <a:t>What it checks</a:t>
                      </a:r>
                    </a:p>
                  </a:txBody>
                  <a:tcPr marL="73152" marR="73152" marT="36576" marB="36576" anchor="ctr">
                    <a:solidFill>
                      <a:srgbClr val="172435"/>
                    </a:solidFill>
                  </a:tcPr>
                </a:tc>
                <a:extLst>
                  <a:ext uri="{0D108BD9-81ED-4DB2-BD59-A6C34878D82A}">
                    <a16:rowId xmlns:a16="http://schemas.microsoft.com/office/drawing/2014/main" val="10000"/>
                  </a:ext>
                </a:extLst>
              </a:tr>
              <a:tr h="574765">
                <a:tc>
                  <a:txBody>
                    <a:bodyPr/>
                    <a:lstStyle/>
                    <a:p>
                      <a:pPr algn="l"/>
                      <a:r>
                        <a:rPr sz="1250" b="0">
                          <a:solidFill>
                            <a:srgbClr val="F3F6F8"/>
                          </a:solidFill>
                          <a:latin typeface="Calibri"/>
                        </a:rPr>
                        <a:t>route_correct</a:t>
                      </a:r>
                    </a:p>
                  </a:txBody>
                  <a:tcPr marL="73152" marR="73152" marT="32004" marB="32004" anchor="ctr">
                    <a:solidFill>
                      <a:srgbClr val="121D2B"/>
                    </a:solidFill>
                  </a:tcPr>
                </a:tc>
                <a:tc>
                  <a:txBody>
                    <a:bodyPr/>
                    <a:lstStyle/>
                    <a:p>
                      <a:pPr algn="ctr"/>
                      <a:r>
                        <a:rPr sz="1250" b="0">
                          <a:solidFill>
                            <a:srgbClr val="F3F6F8"/>
                          </a:solidFill>
                          <a:latin typeface="Calibri"/>
                        </a:rPr>
                        <a:t>Exact specialist routing sequence</a:t>
                      </a:r>
                    </a:p>
                  </a:txBody>
                  <a:tcPr marL="73152" marR="73152" marT="32004" marB="32004" anchor="ctr">
                    <a:solidFill>
                      <a:srgbClr val="121D2B"/>
                    </a:solidFill>
                  </a:tcPr>
                </a:tc>
                <a:extLst>
                  <a:ext uri="{0D108BD9-81ED-4DB2-BD59-A6C34878D82A}">
                    <a16:rowId xmlns:a16="http://schemas.microsoft.com/office/drawing/2014/main" val="10001"/>
                  </a:ext>
                </a:extLst>
              </a:tr>
              <a:tr h="574765">
                <a:tc>
                  <a:txBody>
                    <a:bodyPr/>
                    <a:lstStyle/>
                    <a:p>
                      <a:pPr algn="l"/>
                      <a:r>
                        <a:rPr sz="1250" b="0">
                          <a:solidFill>
                            <a:srgbClr val="F3F6F8"/>
                          </a:solidFill>
                          <a:latin typeface="Calibri"/>
                        </a:rPr>
                        <a:t>tool_selection_correct</a:t>
                      </a:r>
                    </a:p>
                  </a:txBody>
                  <a:tcPr marL="73152" marR="73152" marT="32004" marB="32004" anchor="ctr">
                    <a:solidFill>
                      <a:srgbClr val="121D2B"/>
                    </a:solidFill>
                  </a:tcPr>
                </a:tc>
                <a:tc>
                  <a:txBody>
                    <a:bodyPr/>
                    <a:lstStyle/>
                    <a:p>
                      <a:pPr algn="ctr"/>
                      <a:r>
                        <a:rPr sz="1250" b="0">
                          <a:solidFill>
                            <a:srgbClr val="F3F6F8"/>
                          </a:solidFill>
                          <a:latin typeface="Calibri"/>
                        </a:rPr>
                        <a:t>Right tools called</a:t>
                      </a:r>
                    </a:p>
                  </a:txBody>
                  <a:tcPr marL="73152" marR="73152" marT="32004" marB="32004" anchor="ctr">
                    <a:solidFill>
                      <a:srgbClr val="121D2B"/>
                    </a:solidFill>
                  </a:tcPr>
                </a:tc>
                <a:extLst>
                  <a:ext uri="{0D108BD9-81ED-4DB2-BD59-A6C34878D82A}">
                    <a16:rowId xmlns:a16="http://schemas.microsoft.com/office/drawing/2014/main" val="10002"/>
                  </a:ext>
                </a:extLst>
              </a:tr>
              <a:tr h="574765">
                <a:tc>
                  <a:txBody>
                    <a:bodyPr/>
                    <a:lstStyle/>
                    <a:p>
                      <a:pPr algn="l"/>
                      <a:r>
                        <a:rPr sz="1250" b="0">
                          <a:solidFill>
                            <a:srgbClr val="F3F6F8"/>
                          </a:solidFill>
                          <a:latin typeface="Calibri"/>
                        </a:rPr>
                        <a:t>tool_order_correct</a:t>
                      </a:r>
                    </a:p>
                  </a:txBody>
                  <a:tcPr marL="73152" marR="73152" marT="32004" marB="32004" anchor="ctr">
                    <a:solidFill>
                      <a:srgbClr val="121D2B"/>
                    </a:solidFill>
                  </a:tcPr>
                </a:tc>
                <a:tc>
                  <a:txBody>
                    <a:bodyPr/>
                    <a:lstStyle/>
                    <a:p>
                      <a:pPr algn="ctr"/>
                      <a:r>
                        <a:rPr sz="1250" b="0">
                          <a:solidFill>
                            <a:srgbClr val="F3F6F8"/>
                          </a:solidFill>
                          <a:latin typeface="Calibri"/>
                        </a:rPr>
                        <a:t>Tools called in the right order</a:t>
                      </a:r>
                    </a:p>
                  </a:txBody>
                  <a:tcPr marL="73152" marR="73152" marT="32004" marB="32004" anchor="ctr">
                    <a:solidFill>
                      <a:srgbClr val="121D2B"/>
                    </a:solidFill>
                  </a:tcPr>
                </a:tc>
                <a:extLst>
                  <a:ext uri="{0D108BD9-81ED-4DB2-BD59-A6C34878D82A}">
                    <a16:rowId xmlns:a16="http://schemas.microsoft.com/office/drawing/2014/main" val="10003"/>
                  </a:ext>
                </a:extLst>
              </a:tr>
              <a:tr h="574765">
                <a:tc>
                  <a:txBody>
                    <a:bodyPr/>
                    <a:lstStyle/>
                    <a:p>
                      <a:pPr algn="l"/>
                      <a:r>
                        <a:rPr sz="1250" b="0">
                          <a:solidFill>
                            <a:srgbClr val="F3F6F8"/>
                          </a:solidFill>
                          <a:latin typeface="Calibri"/>
                        </a:rPr>
                        <a:t>guardrail_correct</a:t>
                      </a:r>
                    </a:p>
                  </a:txBody>
                  <a:tcPr marL="73152" marR="73152" marT="32004" marB="32004" anchor="ctr">
                    <a:solidFill>
                      <a:srgbClr val="121D2B"/>
                    </a:solidFill>
                  </a:tcPr>
                </a:tc>
                <a:tc>
                  <a:txBody>
                    <a:bodyPr/>
                    <a:lstStyle/>
                    <a:p>
                      <a:pPr algn="ctr"/>
                      <a:r>
                        <a:rPr sz="1250" b="0">
                          <a:solidFill>
                            <a:srgbClr val="F3F6F8"/>
                          </a:solidFill>
                          <a:latin typeface="Calibri"/>
                        </a:rPr>
                        <a:t>Input/output safety behavior</a:t>
                      </a:r>
                    </a:p>
                  </a:txBody>
                  <a:tcPr marL="73152" marR="73152" marT="32004" marB="32004" anchor="ctr">
                    <a:solidFill>
                      <a:srgbClr val="121D2B"/>
                    </a:solidFill>
                  </a:tcPr>
                </a:tc>
                <a:extLst>
                  <a:ext uri="{0D108BD9-81ED-4DB2-BD59-A6C34878D82A}">
                    <a16:rowId xmlns:a16="http://schemas.microsoft.com/office/drawing/2014/main" val="10004"/>
                  </a:ext>
                </a:extLst>
              </a:tr>
              <a:tr h="574765">
                <a:tc>
                  <a:txBody>
                    <a:bodyPr/>
                    <a:lstStyle/>
                    <a:p>
                      <a:pPr algn="l"/>
                      <a:r>
                        <a:rPr sz="1250" b="0">
                          <a:solidFill>
                            <a:srgbClr val="F3F6F8"/>
                          </a:solidFill>
                          <a:latin typeface="Calibri"/>
                        </a:rPr>
                        <a:t>approval_correct</a:t>
                      </a:r>
                    </a:p>
                  </a:txBody>
                  <a:tcPr marL="73152" marR="73152" marT="32004" marB="32004" anchor="ctr">
                    <a:solidFill>
                      <a:srgbClr val="121D2B"/>
                    </a:solidFill>
                  </a:tcPr>
                </a:tc>
                <a:tc>
                  <a:txBody>
                    <a:bodyPr/>
                    <a:lstStyle/>
                    <a:p>
                      <a:pPr algn="ctr"/>
                      <a:r>
                        <a:rPr sz="1250" b="0">
                          <a:solidFill>
                            <a:srgbClr val="F3F6F8"/>
                          </a:solidFill>
                          <a:latin typeface="Calibri"/>
                        </a:rPr>
                        <a:t>Human-in-the-loop checkpoint behavior</a:t>
                      </a:r>
                    </a:p>
                  </a:txBody>
                  <a:tcPr marL="73152" marR="73152" marT="32004" marB="32004" anchor="ctr">
                    <a:solidFill>
                      <a:srgbClr val="121D2B"/>
                    </a:solidFill>
                  </a:tcPr>
                </a:tc>
                <a:extLst>
                  <a:ext uri="{0D108BD9-81ED-4DB2-BD59-A6C34878D82A}">
                    <a16:rowId xmlns:a16="http://schemas.microsoft.com/office/drawing/2014/main" val="10005"/>
                  </a:ext>
                </a:extLst>
              </a:tr>
              <a:tr h="574770">
                <a:tc>
                  <a:txBody>
                    <a:bodyPr/>
                    <a:lstStyle/>
                    <a:p>
                      <a:pPr algn="l"/>
                      <a:r>
                        <a:rPr sz="1250" b="0">
                          <a:solidFill>
                            <a:srgbClr val="F3F6F8"/>
                          </a:solidFill>
                          <a:latin typeface="Calibri"/>
                        </a:rPr>
                        <a:t>task_completion_correct</a:t>
                      </a:r>
                    </a:p>
                  </a:txBody>
                  <a:tcPr marL="73152" marR="73152" marT="32004" marB="32004" anchor="ctr">
                    <a:solidFill>
                      <a:srgbClr val="121D2B"/>
                    </a:solidFill>
                  </a:tcPr>
                </a:tc>
                <a:tc>
                  <a:txBody>
                    <a:bodyPr/>
                    <a:lstStyle/>
                    <a:p>
                      <a:pPr algn="ctr"/>
                      <a:r>
                        <a:rPr sz="1250" b="0">
                          <a:solidFill>
                            <a:srgbClr val="F3F6F8"/>
                          </a:solidFill>
                          <a:latin typeface="Calibri"/>
                        </a:rPr>
                        <a:t>LLM judge: did it actually solve it</a:t>
                      </a:r>
                    </a:p>
                  </a:txBody>
                  <a:tcPr marL="73152" marR="73152" marT="32004" marB="32004" anchor="ctr">
                    <a:solidFill>
                      <a:srgbClr val="121D2B"/>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12</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RAG EVALUATION — RETRIEVAL RANKING</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Cross-encoder reranking, pre vs. post — K=5, 50 questions</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965960"/>
          <a:ext cx="6492240" cy="265176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30352">
                <a:tc>
                  <a:txBody>
                    <a:bodyPr/>
                    <a:lstStyle/>
                    <a:p>
                      <a:pPr algn="l"/>
                      <a:r>
                        <a:rPr sz="1600" b="1">
                          <a:solidFill>
                            <a:srgbClr val="33DDC2"/>
                          </a:solidFill>
                          <a:latin typeface="Calibri"/>
                        </a:rPr>
                        <a:t>Metric</a:t>
                      </a:r>
                    </a:p>
                  </a:txBody>
                  <a:tcPr marL="73152" marR="73152" marT="36576" marB="36576" anchor="ctr">
                    <a:solidFill>
                      <a:srgbClr val="172435"/>
                    </a:solidFill>
                  </a:tcPr>
                </a:tc>
                <a:tc>
                  <a:txBody>
                    <a:bodyPr/>
                    <a:lstStyle/>
                    <a:p>
                      <a:pPr algn="ctr"/>
                      <a:r>
                        <a:rPr sz="1600" b="1">
                          <a:solidFill>
                            <a:srgbClr val="33DDC2"/>
                          </a:solidFill>
                          <a:latin typeface="Calibri"/>
                        </a:rPr>
                        <a:t>Pre-reranker</a:t>
                      </a:r>
                    </a:p>
                  </a:txBody>
                  <a:tcPr marL="73152" marR="73152" marT="36576" marB="36576" anchor="ctr">
                    <a:solidFill>
                      <a:srgbClr val="172435"/>
                    </a:solidFill>
                  </a:tcPr>
                </a:tc>
                <a:tc>
                  <a:txBody>
                    <a:bodyPr/>
                    <a:lstStyle/>
                    <a:p>
                      <a:pPr algn="ctr"/>
                      <a:r>
                        <a:rPr sz="1600" b="1">
                          <a:solidFill>
                            <a:srgbClr val="33DDC2"/>
                          </a:solidFill>
                          <a:latin typeface="Calibri"/>
                        </a:rPr>
                        <a:t>Post-reranker</a:t>
                      </a:r>
                    </a:p>
                  </a:txBody>
                  <a:tcPr marL="73152" marR="73152" marT="36576" marB="36576" anchor="ctr">
                    <a:solidFill>
                      <a:srgbClr val="172435"/>
                    </a:solidFill>
                  </a:tcPr>
                </a:tc>
                <a:tc>
                  <a:txBody>
                    <a:bodyPr/>
                    <a:lstStyle/>
                    <a:p>
                      <a:pPr algn="ctr"/>
                      <a:r>
                        <a:rPr sz="1600" b="1">
                          <a:solidFill>
                            <a:srgbClr val="33DDC2"/>
                          </a:solidFill>
                          <a:latin typeface="Calibri"/>
                        </a:rPr>
                        <a:t>Δ</a:t>
                      </a:r>
                    </a:p>
                  </a:txBody>
                  <a:tcPr marL="73152" marR="73152" marT="36576" marB="36576" anchor="ctr">
                    <a:solidFill>
                      <a:srgbClr val="172435"/>
                    </a:solidFill>
                  </a:tcPr>
                </a:tc>
                <a:extLst>
                  <a:ext uri="{0D108BD9-81ED-4DB2-BD59-A6C34878D82A}">
                    <a16:rowId xmlns:a16="http://schemas.microsoft.com/office/drawing/2014/main" val="10000"/>
                  </a:ext>
                </a:extLst>
              </a:tr>
              <a:tr h="530352">
                <a:tc>
                  <a:txBody>
                    <a:bodyPr/>
                    <a:lstStyle/>
                    <a:p>
                      <a:pPr algn="l"/>
                      <a:r>
                        <a:rPr sz="1500" b="0">
                          <a:solidFill>
                            <a:srgbClr val="F3F6F8"/>
                          </a:solidFill>
                          <a:latin typeface="Calibri"/>
                        </a:rPr>
                        <a:t>Precision@5</a:t>
                      </a:r>
                    </a:p>
                  </a:txBody>
                  <a:tcPr marL="73152" marR="73152" marT="32004" marB="32004" anchor="ctr">
                    <a:solidFill>
                      <a:srgbClr val="121D2B"/>
                    </a:solidFill>
                  </a:tcPr>
                </a:tc>
                <a:tc>
                  <a:txBody>
                    <a:bodyPr/>
                    <a:lstStyle/>
                    <a:p>
                      <a:pPr algn="ctr"/>
                      <a:r>
                        <a:rPr sz="1500" b="0">
                          <a:solidFill>
                            <a:srgbClr val="F3F6F8"/>
                          </a:solidFill>
                          <a:latin typeface="Calibri"/>
                        </a:rPr>
                        <a:t>0.660</a:t>
                      </a:r>
                    </a:p>
                  </a:txBody>
                  <a:tcPr marL="73152" marR="73152" marT="32004" marB="32004" anchor="ctr">
                    <a:solidFill>
                      <a:srgbClr val="121D2B"/>
                    </a:solidFill>
                  </a:tcPr>
                </a:tc>
                <a:tc>
                  <a:txBody>
                    <a:bodyPr/>
                    <a:lstStyle/>
                    <a:p>
                      <a:pPr algn="ctr"/>
                      <a:r>
                        <a:rPr sz="1500" b="1">
                          <a:solidFill>
                            <a:srgbClr val="33DDC2"/>
                          </a:solidFill>
                          <a:latin typeface="Calibri"/>
                        </a:rPr>
                        <a:t>0.696</a:t>
                      </a:r>
                    </a:p>
                  </a:txBody>
                  <a:tcPr marL="73152" marR="73152" marT="32004" marB="32004" anchor="ctr">
                    <a:solidFill>
                      <a:srgbClr val="121D2B"/>
                    </a:solidFill>
                  </a:tcPr>
                </a:tc>
                <a:tc>
                  <a:txBody>
                    <a:bodyPr/>
                    <a:lstStyle/>
                    <a:p>
                      <a:pPr algn="ctr"/>
                      <a:r>
                        <a:rPr sz="1500" b="0">
                          <a:solidFill>
                            <a:srgbClr val="F3F6F8"/>
                          </a:solidFill>
                          <a:latin typeface="Calibri"/>
                        </a:rPr>
                        <a:t>+0.036</a:t>
                      </a:r>
                    </a:p>
                  </a:txBody>
                  <a:tcPr marL="73152" marR="73152" marT="32004" marB="32004" anchor="ctr">
                    <a:solidFill>
                      <a:srgbClr val="121D2B"/>
                    </a:solidFill>
                  </a:tcPr>
                </a:tc>
                <a:extLst>
                  <a:ext uri="{0D108BD9-81ED-4DB2-BD59-A6C34878D82A}">
                    <a16:rowId xmlns:a16="http://schemas.microsoft.com/office/drawing/2014/main" val="10001"/>
                  </a:ext>
                </a:extLst>
              </a:tr>
              <a:tr h="530352">
                <a:tc>
                  <a:txBody>
                    <a:bodyPr/>
                    <a:lstStyle/>
                    <a:p>
                      <a:pPr algn="l"/>
                      <a:r>
                        <a:rPr sz="1500" b="0">
                          <a:solidFill>
                            <a:srgbClr val="F3F6F8"/>
                          </a:solidFill>
                          <a:latin typeface="Calibri"/>
                        </a:rPr>
                        <a:t>Recall@5</a:t>
                      </a:r>
                    </a:p>
                  </a:txBody>
                  <a:tcPr marL="73152" marR="73152" marT="32004" marB="32004" anchor="ctr">
                    <a:solidFill>
                      <a:srgbClr val="121D2B"/>
                    </a:solidFill>
                  </a:tcPr>
                </a:tc>
                <a:tc>
                  <a:txBody>
                    <a:bodyPr/>
                    <a:lstStyle/>
                    <a:p>
                      <a:pPr algn="ctr"/>
                      <a:r>
                        <a:rPr sz="1500" b="0">
                          <a:solidFill>
                            <a:srgbClr val="F3F6F8"/>
                          </a:solidFill>
                          <a:latin typeface="Calibri"/>
                        </a:rPr>
                        <a:t>0.903</a:t>
                      </a:r>
                    </a:p>
                  </a:txBody>
                  <a:tcPr marL="73152" marR="73152" marT="32004" marB="32004" anchor="ctr">
                    <a:solidFill>
                      <a:srgbClr val="121D2B"/>
                    </a:solidFill>
                  </a:tcPr>
                </a:tc>
                <a:tc>
                  <a:txBody>
                    <a:bodyPr/>
                    <a:lstStyle/>
                    <a:p>
                      <a:pPr algn="ctr"/>
                      <a:r>
                        <a:rPr sz="1500" b="1">
                          <a:solidFill>
                            <a:srgbClr val="33DDC2"/>
                          </a:solidFill>
                          <a:latin typeface="Calibri"/>
                        </a:rPr>
                        <a:t>0.903</a:t>
                      </a:r>
                    </a:p>
                  </a:txBody>
                  <a:tcPr marL="73152" marR="73152" marT="32004" marB="32004" anchor="ctr">
                    <a:solidFill>
                      <a:srgbClr val="121D2B"/>
                    </a:solidFill>
                  </a:tcPr>
                </a:tc>
                <a:tc>
                  <a:txBody>
                    <a:bodyPr/>
                    <a:lstStyle/>
                    <a:p>
                      <a:pPr algn="ctr"/>
                      <a:r>
                        <a:rPr sz="1500" b="0">
                          <a:solidFill>
                            <a:srgbClr val="F3F6F8"/>
                          </a:solidFill>
                          <a:latin typeface="Calibri"/>
                        </a:rPr>
                        <a:t>+0.000</a:t>
                      </a:r>
                    </a:p>
                  </a:txBody>
                  <a:tcPr marL="73152" marR="73152" marT="32004" marB="32004" anchor="ctr">
                    <a:solidFill>
                      <a:srgbClr val="121D2B"/>
                    </a:solidFill>
                  </a:tcPr>
                </a:tc>
                <a:extLst>
                  <a:ext uri="{0D108BD9-81ED-4DB2-BD59-A6C34878D82A}">
                    <a16:rowId xmlns:a16="http://schemas.microsoft.com/office/drawing/2014/main" val="10002"/>
                  </a:ext>
                </a:extLst>
              </a:tr>
              <a:tr h="530352">
                <a:tc>
                  <a:txBody>
                    <a:bodyPr/>
                    <a:lstStyle/>
                    <a:p>
                      <a:pPr algn="l"/>
                      <a:r>
                        <a:rPr sz="1500" b="0">
                          <a:solidFill>
                            <a:srgbClr val="F3F6F8"/>
                          </a:solidFill>
                          <a:latin typeface="Calibri"/>
                        </a:rPr>
                        <a:t>MRR</a:t>
                      </a:r>
                    </a:p>
                  </a:txBody>
                  <a:tcPr marL="73152" marR="73152" marT="32004" marB="32004" anchor="ctr">
                    <a:solidFill>
                      <a:srgbClr val="121D2B"/>
                    </a:solidFill>
                  </a:tcPr>
                </a:tc>
                <a:tc>
                  <a:txBody>
                    <a:bodyPr/>
                    <a:lstStyle/>
                    <a:p>
                      <a:pPr algn="ctr"/>
                      <a:r>
                        <a:rPr sz="1500" b="0">
                          <a:solidFill>
                            <a:srgbClr val="F3F6F8"/>
                          </a:solidFill>
                          <a:latin typeface="Calibri"/>
                        </a:rPr>
                        <a:t>0.852</a:t>
                      </a:r>
                    </a:p>
                  </a:txBody>
                  <a:tcPr marL="73152" marR="73152" marT="32004" marB="32004" anchor="ctr">
                    <a:solidFill>
                      <a:srgbClr val="121D2B"/>
                    </a:solidFill>
                  </a:tcPr>
                </a:tc>
                <a:tc>
                  <a:txBody>
                    <a:bodyPr/>
                    <a:lstStyle/>
                    <a:p>
                      <a:pPr algn="ctr"/>
                      <a:r>
                        <a:rPr sz="1500" b="1">
                          <a:solidFill>
                            <a:srgbClr val="33DDC2"/>
                          </a:solidFill>
                          <a:latin typeface="Calibri"/>
                        </a:rPr>
                        <a:t>0.877</a:t>
                      </a:r>
                    </a:p>
                  </a:txBody>
                  <a:tcPr marL="73152" marR="73152" marT="32004" marB="32004" anchor="ctr">
                    <a:solidFill>
                      <a:srgbClr val="121D2B"/>
                    </a:solidFill>
                  </a:tcPr>
                </a:tc>
                <a:tc>
                  <a:txBody>
                    <a:bodyPr/>
                    <a:lstStyle/>
                    <a:p>
                      <a:pPr algn="ctr"/>
                      <a:r>
                        <a:rPr sz="1500" b="0">
                          <a:solidFill>
                            <a:srgbClr val="F3F6F8"/>
                          </a:solidFill>
                          <a:latin typeface="Calibri"/>
                        </a:rPr>
                        <a:t>+0.026</a:t>
                      </a:r>
                    </a:p>
                  </a:txBody>
                  <a:tcPr marL="73152" marR="73152" marT="32004" marB="32004" anchor="ctr">
                    <a:solidFill>
                      <a:srgbClr val="121D2B"/>
                    </a:solidFill>
                  </a:tcPr>
                </a:tc>
                <a:extLst>
                  <a:ext uri="{0D108BD9-81ED-4DB2-BD59-A6C34878D82A}">
                    <a16:rowId xmlns:a16="http://schemas.microsoft.com/office/drawing/2014/main" val="10003"/>
                  </a:ext>
                </a:extLst>
              </a:tr>
              <a:tr h="530352">
                <a:tc>
                  <a:txBody>
                    <a:bodyPr/>
                    <a:lstStyle/>
                    <a:p>
                      <a:pPr algn="l"/>
                      <a:r>
                        <a:rPr sz="1500" b="0">
                          <a:solidFill>
                            <a:srgbClr val="F3F6F8"/>
                          </a:solidFill>
                          <a:latin typeface="Calibri"/>
                        </a:rPr>
                        <a:t>NDCG@5</a:t>
                      </a:r>
                    </a:p>
                  </a:txBody>
                  <a:tcPr marL="73152" marR="73152" marT="32004" marB="32004" anchor="ctr">
                    <a:solidFill>
                      <a:srgbClr val="121D2B"/>
                    </a:solidFill>
                  </a:tcPr>
                </a:tc>
                <a:tc>
                  <a:txBody>
                    <a:bodyPr/>
                    <a:lstStyle/>
                    <a:p>
                      <a:pPr algn="ctr"/>
                      <a:r>
                        <a:rPr sz="1500" b="0">
                          <a:solidFill>
                            <a:srgbClr val="F3F6F8"/>
                          </a:solidFill>
                          <a:latin typeface="Calibri"/>
                        </a:rPr>
                        <a:t>0.734</a:t>
                      </a:r>
                    </a:p>
                  </a:txBody>
                  <a:tcPr marL="73152" marR="73152" marT="32004" marB="32004" anchor="ctr">
                    <a:solidFill>
                      <a:srgbClr val="121D2B"/>
                    </a:solidFill>
                  </a:tcPr>
                </a:tc>
                <a:tc>
                  <a:txBody>
                    <a:bodyPr/>
                    <a:lstStyle/>
                    <a:p>
                      <a:pPr algn="ctr"/>
                      <a:r>
                        <a:rPr sz="1500" b="1">
                          <a:solidFill>
                            <a:srgbClr val="33DDC2"/>
                          </a:solidFill>
                          <a:latin typeface="Calibri"/>
                        </a:rPr>
                        <a:t>0.760</a:t>
                      </a:r>
                    </a:p>
                  </a:txBody>
                  <a:tcPr marL="73152" marR="73152" marT="32004" marB="32004" anchor="ctr">
                    <a:solidFill>
                      <a:srgbClr val="121D2B"/>
                    </a:solidFill>
                  </a:tcPr>
                </a:tc>
                <a:tc>
                  <a:txBody>
                    <a:bodyPr/>
                    <a:lstStyle/>
                    <a:p>
                      <a:pPr algn="ctr"/>
                      <a:r>
                        <a:rPr sz="1500" b="0">
                          <a:solidFill>
                            <a:srgbClr val="F3F6F8"/>
                          </a:solidFill>
                          <a:latin typeface="Calibri"/>
                        </a:rPr>
                        <a:t>+0.026</a:t>
                      </a:r>
                    </a:p>
                  </a:txBody>
                  <a:tcPr marL="73152" marR="73152" marT="32004" marB="32004" anchor="ctr">
                    <a:solidFill>
                      <a:srgbClr val="121D2B"/>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4846320"/>
            <a:ext cx="6492240" cy="365760"/>
          </a:xfrm>
          <a:prstGeom prst="rect">
            <a:avLst/>
          </a:prstGeom>
          <a:noFill/>
        </p:spPr>
        <p:txBody>
          <a:bodyPr wrap="square" lIns="0" tIns="0" rIns="0" bIns="0" anchor="t">
            <a:spAutoFit/>
          </a:bodyPr>
          <a:lstStyle/>
          <a:p>
            <a:pPr algn="l">
              <a:lnSpc>
                <a:spcPct val="100000"/>
              </a:lnSpc>
              <a:spcAft>
                <a:spcPts val="0"/>
              </a:spcAft>
            </a:pPr>
            <a:r>
              <a:rPr sz="1200" b="0">
                <a:solidFill>
                  <a:srgbClr val="92A2B3"/>
                </a:solidFill>
                <a:latin typeface="Calibri"/>
              </a:rPr>
              <a:t>arduino_rag_gold_dataset_final.jsonl · dense (Qdrant) retrieval + local cross-encoder reranker</a:t>
            </a:r>
          </a:p>
        </p:txBody>
      </p:sp>
      <p:sp>
        <p:nvSpPr>
          <p:cNvPr id="8" name="TextBox 7"/>
          <p:cNvSpPr txBox="1"/>
          <p:nvPr/>
        </p:nvSpPr>
        <p:spPr>
          <a:xfrm>
            <a:off x="7315200" y="1965960"/>
            <a:ext cx="4389120" cy="4114800"/>
          </a:xfrm>
          <a:prstGeom prst="rect">
            <a:avLst/>
          </a:prstGeom>
          <a:noFill/>
        </p:spPr>
        <p:txBody>
          <a:bodyPr wrap="square" lIns="0" tIns="0" rIns="0" bIns="0" anchor="t">
            <a:spAutoFit/>
          </a:bodyPr>
          <a:lstStyle/>
          <a:p>
            <a:pPr marL="256032" indent="-256032" algn="l">
              <a:lnSpc>
                <a:spcPct val="115000"/>
              </a:lnSpc>
              <a:spcAft>
                <a:spcPts val="200"/>
              </a:spcAft>
              <a:buFont typeface="Calibri"/>
              <a:buChar char="›"/>
            </a:pPr>
            <a:r>
              <a:rPr sz="1350" b="1">
                <a:solidFill>
                  <a:srgbClr val="F3F6F8"/>
                </a:solidFill>
                <a:latin typeface="Calibri"/>
              </a:rPr>
              <a:t>Precision &amp; ranking improve</a:t>
            </a:r>
          </a:p>
          <a:p>
            <a:pPr algn="l">
              <a:lnSpc>
                <a:spcPct val="115000"/>
              </a:lnSpc>
              <a:spcAft>
                <a:spcPts val="1000"/>
              </a:spcAft>
            </a:pPr>
            <a:r>
              <a:rPr sz="1050" b="0">
                <a:solidFill>
                  <a:srgbClr val="92A2B3"/>
                </a:solidFill>
                <a:latin typeface="Calibri"/>
              </a:rPr>
              <a:t>Reranking pulls the truly relevant chunk to the top more often — MRR +0.026, NDCG@5 +0.026.</a:t>
            </a:r>
          </a:p>
          <a:p>
            <a:pPr marL="256032" indent="-256032" algn="l">
              <a:lnSpc>
                <a:spcPct val="115000"/>
              </a:lnSpc>
              <a:spcAft>
                <a:spcPts val="200"/>
              </a:spcAft>
              <a:buFont typeface="Calibri"/>
              <a:buChar char="›"/>
            </a:pPr>
            <a:r>
              <a:rPr sz="1350" b="1">
                <a:solidFill>
                  <a:srgbClr val="F3F6F8"/>
                </a:solidFill>
                <a:latin typeface="Calibri"/>
              </a:rPr>
              <a:t>Zero recall cost</a:t>
            </a:r>
          </a:p>
          <a:p>
            <a:pPr algn="l">
              <a:lnSpc>
                <a:spcPct val="115000"/>
              </a:lnSpc>
              <a:spcAft>
                <a:spcPts val="1000"/>
              </a:spcAft>
            </a:pPr>
            <a:r>
              <a:rPr sz="1050" b="0">
                <a:solidFill>
                  <a:srgbClr val="92A2B3"/>
                </a:solidFill>
                <a:latin typeface="Calibri"/>
              </a:rPr>
              <a:t>Recall@5 is unchanged (+0.000) — reranking reorders the same candidate set, it doesn’t discard evidence.</a:t>
            </a:r>
          </a:p>
          <a:p>
            <a:pPr marL="256032" indent="-256032" algn="l">
              <a:lnSpc>
                <a:spcPct val="115000"/>
              </a:lnSpc>
              <a:spcAft>
                <a:spcPts val="200"/>
              </a:spcAft>
              <a:buFont typeface="Calibri"/>
              <a:buChar char="›"/>
            </a:pPr>
            <a:r>
              <a:rPr sz="1350" b="1">
                <a:solidFill>
                  <a:srgbClr val="F3F6F8"/>
                </a:solidFill>
                <a:latin typeface="Calibri"/>
              </a:rPr>
              <a:t>Kept in the final architecture</a:t>
            </a:r>
          </a:p>
          <a:p>
            <a:pPr algn="l">
              <a:lnSpc>
                <a:spcPct val="115000"/>
              </a:lnSpc>
              <a:spcAft>
                <a:spcPts val="1000"/>
              </a:spcAft>
            </a:pPr>
            <a:r>
              <a:rPr sz="1050" b="0">
                <a:solidFill>
                  <a:srgbClr val="92A2B3"/>
                </a:solidFill>
                <a:latin typeface="Calibri"/>
              </a:rPr>
              <a:t>This is configuration comparison #1: reranking on beats reranking off on every axis that moved, at no measured downside.</a:t>
            </a:r>
          </a:p>
        </p:txBody>
      </p:sp>
      <p:sp>
        <p:nvSpPr>
          <p:cNvPr id="9" name="TextBox 8"/>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10" name="TextBox 9"/>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13</a:t>
            </a:r>
          </a:p>
        </p:txBody>
      </p:sp>
      <p:cxnSp>
        <p:nvCxnSpPr>
          <p:cNvPr id="11" name="Connector 10"/>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RAG EVALUATION — GENERATION QUALITY (RAGAS)</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Three retrieval configurations, 15 questions each</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874519"/>
          <a:ext cx="11201397" cy="2331720"/>
        </p:xfrm>
        <a:graphic>
          <a:graphicData uri="http://schemas.openxmlformats.org/drawingml/2006/table">
            <a:tbl>
              <a:tblPr>
                <a:tableStyleId>{5C22544A-7EE6-4342-B048-85BDC9FD1C3A}</a:tableStyleId>
              </a:tblPr>
              <a:tblGrid>
                <a:gridCol w="2604976">
                  <a:extLst>
                    <a:ext uri="{9D8B030D-6E8A-4147-A177-3AD203B41FA5}">
                      <a16:colId xmlns:a16="http://schemas.microsoft.com/office/drawing/2014/main" val="20000"/>
                    </a:ext>
                  </a:extLst>
                </a:gridCol>
                <a:gridCol w="2474727">
                  <a:extLst>
                    <a:ext uri="{9D8B030D-6E8A-4147-A177-3AD203B41FA5}">
                      <a16:colId xmlns:a16="http://schemas.microsoft.com/office/drawing/2014/main" val="20001"/>
                    </a:ext>
                  </a:extLst>
                </a:gridCol>
                <a:gridCol w="3256220">
                  <a:extLst>
                    <a:ext uri="{9D8B030D-6E8A-4147-A177-3AD203B41FA5}">
                      <a16:colId xmlns:a16="http://schemas.microsoft.com/office/drawing/2014/main" val="20002"/>
                    </a:ext>
                  </a:extLst>
                </a:gridCol>
                <a:gridCol w="2865474">
                  <a:extLst>
                    <a:ext uri="{9D8B030D-6E8A-4147-A177-3AD203B41FA5}">
                      <a16:colId xmlns:a16="http://schemas.microsoft.com/office/drawing/2014/main" val="20003"/>
                    </a:ext>
                  </a:extLst>
                </a:gridCol>
              </a:tblGrid>
              <a:tr h="466344">
                <a:tc>
                  <a:txBody>
                    <a:bodyPr/>
                    <a:lstStyle/>
                    <a:p>
                      <a:pPr algn="l"/>
                      <a:r>
                        <a:rPr sz="1450" b="1">
                          <a:solidFill>
                            <a:srgbClr val="33DDC2"/>
                          </a:solidFill>
                          <a:latin typeface="Calibri"/>
                        </a:rPr>
                        <a:t>Metric</a:t>
                      </a:r>
                    </a:p>
                  </a:txBody>
                  <a:tcPr marL="73152" marR="73152" marT="36576" marB="36576" anchor="ctr">
                    <a:solidFill>
                      <a:srgbClr val="172435"/>
                    </a:solidFill>
                  </a:tcPr>
                </a:tc>
                <a:tc>
                  <a:txBody>
                    <a:bodyPr/>
                    <a:lstStyle/>
                    <a:p>
                      <a:pPr algn="ctr"/>
                      <a:r>
                        <a:rPr sz="1450" b="1">
                          <a:solidFill>
                            <a:srgbClr val="33DDC2"/>
                          </a:solidFill>
                          <a:latin typeface="Calibri"/>
                        </a:rPr>
                        <a:t>Dense baseline</a:t>
                      </a:r>
                    </a:p>
                  </a:txBody>
                  <a:tcPr marL="73152" marR="73152" marT="36576" marB="36576" anchor="ctr">
                    <a:solidFill>
                      <a:srgbClr val="172435"/>
                    </a:solidFill>
                  </a:tcPr>
                </a:tc>
                <a:tc>
                  <a:txBody>
                    <a:bodyPr/>
                    <a:lstStyle/>
                    <a:p>
                      <a:pPr algn="ctr"/>
                      <a:r>
                        <a:rPr sz="1450" b="1">
                          <a:solidFill>
                            <a:srgbClr val="33DDC2"/>
                          </a:solidFill>
                          <a:latin typeface="Calibri"/>
                        </a:rPr>
                        <a:t>Hybrid (BM25+RRF+rerank)</a:t>
                      </a:r>
                    </a:p>
                  </a:txBody>
                  <a:tcPr marL="73152" marR="73152" marT="36576" marB="36576" anchor="ctr">
                    <a:solidFill>
                      <a:srgbClr val="172435"/>
                    </a:solidFill>
                  </a:tcPr>
                </a:tc>
                <a:tc>
                  <a:txBody>
                    <a:bodyPr/>
                    <a:lstStyle/>
                    <a:p>
                      <a:pPr algn="ctr"/>
                      <a:r>
                        <a:rPr sz="1450" b="1">
                          <a:solidFill>
                            <a:srgbClr val="33DDC2"/>
                          </a:solidFill>
                          <a:latin typeface="Calibri"/>
                        </a:rPr>
                        <a:t>Detailed-caption pilot</a:t>
                      </a:r>
                    </a:p>
                  </a:txBody>
                  <a:tcPr marL="73152" marR="73152" marT="36576" marB="36576" anchor="ctr">
                    <a:solidFill>
                      <a:srgbClr val="172435"/>
                    </a:solidFill>
                  </a:tcPr>
                </a:tc>
                <a:extLst>
                  <a:ext uri="{0D108BD9-81ED-4DB2-BD59-A6C34878D82A}">
                    <a16:rowId xmlns:a16="http://schemas.microsoft.com/office/drawing/2014/main" val="10000"/>
                  </a:ext>
                </a:extLst>
              </a:tr>
              <a:tr h="466344">
                <a:tc>
                  <a:txBody>
                    <a:bodyPr/>
                    <a:lstStyle/>
                    <a:p>
                      <a:pPr algn="l"/>
                      <a:r>
                        <a:rPr sz="1350" b="0">
                          <a:solidFill>
                            <a:srgbClr val="F3F6F8"/>
                          </a:solidFill>
                          <a:latin typeface="Calibri"/>
                        </a:rPr>
                        <a:t>Faithfulness</a:t>
                      </a:r>
                    </a:p>
                  </a:txBody>
                  <a:tcPr marL="73152" marR="73152" marT="32004" marB="32004" anchor="ctr">
                    <a:solidFill>
                      <a:srgbClr val="121D2B"/>
                    </a:solidFill>
                  </a:tcPr>
                </a:tc>
                <a:tc>
                  <a:txBody>
                    <a:bodyPr/>
                    <a:lstStyle/>
                    <a:p>
                      <a:pPr algn="ctr"/>
                      <a:r>
                        <a:rPr sz="1350" b="0">
                          <a:solidFill>
                            <a:srgbClr val="F3F6F8"/>
                          </a:solidFill>
                          <a:latin typeface="Calibri"/>
                        </a:rPr>
                        <a:t>0.904</a:t>
                      </a:r>
                    </a:p>
                  </a:txBody>
                  <a:tcPr marL="73152" marR="73152" marT="32004" marB="32004" anchor="ctr">
                    <a:solidFill>
                      <a:srgbClr val="121D2B"/>
                    </a:solidFill>
                  </a:tcPr>
                </a:tc>
                <a:tc>
                  <a:txBody>
                    <a:bodyPr/>
                    <a:lstStyle/>
                    <a:p>
                      <a:pPr algn="ctr"/>
                      <a:r>
                        <a:rPr sz="1350" b="0">
                          <a:solidFill>
                            <a:srgbClr val="F3F6F8"/>
                          </a:solidFill>
                          <a:latin typeface="Calibri"/>
                        </a:rPr>
                        <a:t>0.859</a:t>
                      </a:r>
                    </a:p>
                  </a:txBody>
                  <a:tcPr marL="73152" marR="73152" marT="32004" marB="32004" anchor="ctr">
                    <a:solidFill>
                      <a:srgbClr val="121D2B"/>
                    </a:solidFill>
                  </a:tcPr>
                </a:tc>
                <a:tc>
                  <a:txBody>
                    <a:bodyPr/>
                    <a:lstStyle/>
                    <a:p>
                      <a:pPr algn="ctr"/>
                      <a:r>
                        <a:rPr sz="1350" b="1">
                          <a:solidFill>
                            <a:srgbClr val="33DDC2"/>
                          </a:solidFill>
                          <a:latin typeface="Calibri"/>
                        </a:rPr>
                        <a:t>0.944</a:t>
                      </a:r>
                    </a:p>
                  </a:txBody>
                  <a:tcPr marL="73152" marR="73152" marT="32004" marB="32004" anchor="ctr">
                    <a:solidFill>
                      <a:srgbClr val="121D2B"/>
                    </a:solidFill>
                  </a:tcPr>
                </a:tc>
                <a:extLst>
                  <a:ext uri="{0D108BD9-81ED-4DB2-BD59-A6C34878D82A}">
                    <a16:rowId xmlns:a16="http://schemas.microsoft.com/office/drawing/2014/main" val="10001"/>
                  </a:ext>
                </a:extLst>
              </a:tr>
              <a:tr h="466344">
                <a:tc>
                  <a:txBody>
                    <a:bodyPr/>
                    <a:lstStyle/>
                    <a:p>
                      <a:pPr algn="l"/>
                      <a:r>
                        <a:rPr sz="1350" b="0">
                          <a:solidFill>
                            <a:srgbClr val="F3F6F8"/>
                          </a:solidFill>
                          <a:latin typeface="Calibri"/>
                        </a:rPr>
                        <a:t>Answer relevancy</a:t>
                      </a:r>
                    </a:p>
                  </a:txBody>
                  <a:tcPr marL="73152" marR="73152" marT="32004" marB="32004" anchor="ctr">
                    <a:solidFill>
                      <a:srgbClr val="121D2B"/>
                    </a:solidFill>
                  </a:tcPr>
                </a:tc>
                <a:tc>
                  <a:txBody>
                    <a:bodyPr/>
                    <a:lstStyle/>
                    <a:p>
                      <a:pPr algn="ctr"/>
                      <a:r>
                        <a:rPr sz="1350" b="0">
                          <a:solidFill>
                            <a:srgbClr val="F3F6F8"/>
                          </a:solidFill>
                          <a:latin typeface="Calibri"/>
                        </a:rPr>
                        <a:t>0.878</a:t>
                      </a:r>
                    </a:p>
                  </a:txBody>
                  <a:tcPr marL="73152" marR="73152" marT="32004" marB="32004" anchor="ctr">
                    <a:solidFill>
                      <a:srgbClr val="121D2B"/>
                    </a:solidFill>
                  </a:tcPr>
                </a:tc>
                <a:tc>
                  <a:txBody>
                    <a:bodyPr/>
                    <a:lstStyle/>
                    <a:p>
                      <a:pPr algn="ctr"/>
                      <a:r>
                        <a:rPr sz="1350" b="0">
                          <a:solidFill>
                            <a:srgbClr val="F3F6F8"/>
                          </a:solidFill>
                          <a:latin typeface="Calibri"/>
                        </a:rPr>
                        <a:t>0.805</a:t>
                      </a:r>
                    </a:p>
                  </a:txBody>
                  <a:tcPr marL="73152" marR="73152" marT="32004" marB="32004" anchor="ctr">
                    <a:solidFill>
                      <a:srgbClr val="121D2B"/>
                    </a:solidFill>
                  </a:tcPr>
                </a:tc>
                <a:tc>
                  <a:txBody>
                    <a:bodyPr/>
                    <a:lstStyle/>
                    <a:p>
                      <a:pPr algn="ctr"/>
                      <a:r>
                        <a:rPr sz="1350" b="1">
                          <a:solidFill>
                            <a:srgbClr val="33DDC2"/>
                          </a:solidFill>
                          <a:latin typeface="Calibri"/>
                        </a:rPr>
                        <a:t>0.875</a:t>
                      </a:r>
                    </a:p>
                  </a:txBody>
                  <a:tcPr marL="73152" marR="73152" marT="32004" marB="32004" anchor="ctr">
                    <a:solidFill>
                      <a:srgbClr val="121D2B"/>
                    </a:solidFill>
                  </a:tcPr>
                </a:tc>
                <a:extLst>
                  <a:ext uri="{0D108BD9-81ED-4DB2-BD59-A6C34878D82A}">
                    <a16:rowId xmlns:a16="http://schemas.microsoft.com/office/drawing/2014/main" val="10002"/>
                  </a:ext>
                </a:extLst>
              </a:tr>
              <a:tr h="466344">
                <a:tc>
                  <a:txBody>
                    <a:bodyPr/>
                    <a:lstStyle/>
                    <a:p>
                      <a:pPr algn="l"/>
                      <a:r>
                        <a:rPr sz="1350" b="0">
                          <a:solidFill>
                            <a:srgbClr val="F3F6F8"/>
                          </a:solidFill>
                          <a:latin typeface="Calibri"/>
                        </a:rPr>
                        <a:t>Context precision</a:t>
                      </a:r>
                    </a:p>
                  </a:txBody>
                  <a:tcPr marL="73152" marR="73152" marT="32004" marB="32004" anchor="ctr">
                    <a:solidFill>
                      <a:srgbClr val="121D2B"/>
                    </a:solidFill>
                  </a:tcPr>
                </a:tc>
                <a:tc>
                  <a:txBody>
                    <a:bodyPr/>
                    <a:lstStyle/>
                    <a:p>
                      <a:pPr algn="ctr"/>
                      <a:r>
                        <a:rPr sz="1350" b="0">
                          <a:solidFill>
                            <a:srgbClr val="F3F6F8"/>
                          </a:solidFill>
                          <a:latin typeface="Calibri"/>
                        </a:rPr>
                        <a:t>0.605</a:t>
                      </a:r>
                    </a:p>
                  </a:txBody>
                  <a:tcPr marL="73152" marR="73152" marT="32004" marB="32004" anchor="ctr">
                    <a:solidFill>
                      <a:srgbClr val="121D2B"/>
                    </a:solidFill>
                  </a:tcPr>
                </a:tc>
                <a:tc>
                  <a:txBody>
                    <a:bodyPr/>
                    <a:lstStyle/>
                    <a:p>
                      <a:pPr algn="ctr"/>
                      <a:r>
                        <a:rPr sz="1350" b="0">
                          <a:solidFill>
                            <a:srgbClr val="F3F6F8"/>
                          </a:solidFill>
                          <a:latin typeface="Calibri"/>
                        </a:rPr>
                        <a:t>0.702</a:t>
                      </a:r>
                    </a:p>
                  </a:txBody>
                  <a:tcPr marL="73152" marR="73152" marT="32004" marB="32004" anchor="ctr">
                    <a:solidFill>
                      <a:srgbClr val="121D2B"/>
                    </a:solidFill>
                  </a:tcPr>
                </a:tc>
                <a:tc>
                  <a:txBody>
                    <a:bodyPr/>
                    <a:lstStyle/>
                    <a:p>
                      <a:pPr algn="ctr"/>
                      <a:r>
                        <a:rPr sz="1350" b="1">
                          <a:solidFill>
                            <a:srgbClr val="33DDC2"/>
                          </a:solidFill>
                          <a:latin typeface="Calibri"/>
                        </a:rPr>
                        <a:t>0.790</a:t>
                      </a:r>
                    </a:p>
                  </a:txBody>
                  <a:tcPr marL="73152" marR="73152" marT="32004" marB="32004" anchor="ctr">
                    <a:solidFill>
                      <a:srgbClr val="121D2B"/>
                    </a:solidFill>
                  </a:tcPr>
                </a:tc>
                <a:extLst>
                  <a:ext uri="{0D108BD9-81ED-4DB2-BD59-A6C34878D82A}">
                    <a16:rowId xmlns:a16="http://schemas.microsoft.com/office/drawing/2014/main" val="10003"/>
                  </a:ext>
                </a:extLst>
              </a:tr>
              <a:tr h="466344">
                <a:tc>
                  <a:txBody>
                    <a:bodyPr/>
                    <a:lstStyle/>
                    <a:p>
                      <a:pPr algn="l"/>
                      <a:r>
                        <a:rPr sz="1350" b="0">
                          <a:solidFill>
                            <a:srgbClr val="F3F6F8"/>
                          </a:solidFill>
                          <a:latin typeface="Calibri"/>
                        </a:rPr>
                        <a:t>Context recall</a:t>
                      </a:r>
                    </a:p>
                  </a:txBody>
                  <a:tcPr marL="73152" marR="73152" marT="32004" marB="32004" anchor="ctr">
                    <a:solidFill>
                      <a:srgbClr val="121D2B"/>
                    </a:solidFill>
                  </a:tcPr>
                </a:tc>
                <a:tc>
                  <a:txBody>
                    <a:bodyPr/>
                    <a:lstStyle/>
                    <a:p>
                      <a:pPr algn="ctr"/>
                      <a:r>
                        <a:rPr sz="1350" b="0">
                          <a:solidFill>
                            <a:srgbClr val="F3F6F8"/>
                          </a:solidFill>
                          <a:latin typeface="Calibri"/>
                        </a:rPr>
                        <a:t>0.967</a:t>
                      </a:r>
                    </a:p>
                  </a:txBody>
                  <a:tcPr marL="73152" marR="73152" marT="32004" marB="32004" anchor="ctr">
                    <a:solidFill>
                      <a:srgbClr val="121D2B"/>
                    </a:solidFill>
                  </a:tcPr>
                </a:tc>
                <a:tc>
                  <a:txBody>
                    <a:bodyPr/>
                    <a:lstStyle/>
                    <a:p>
                      <a:pPr algn="ctr"/>
                      <a:r>
                        <a:rPr sz="1350" b="0">
                          <a:solidFill>
                            <a:srgbClr val="F3F6F8"/>
                          </a:solidFill>
                          <a:latin typeface="Calibri"/>
                        </a:rPr>
                        <a:t>0.833</a:t>
                      </a:r>
                    </a:p>
                  </a:txBody>
                  <a:tcPr marL="73152" marR="73152" marT="32004" marB="32004" anchor="ctr">
                    <a:solidFill>
                      <a:srgbClr val="121D2B"/>
                    </a:solidFill>
                  </a:tcPr>
                </a:tc>
                <a:tc>
                  <a:txBody>
                    <a:bodyPr/>
                    <a:lstStyle/>
                    <a:p>
                      <a:pPr algn="ctr"/>
                      <a:r>
                        <a:rPr sz="1350" b="1">
                          <a:solidFill>
                            <a:srgbClr val="33DDC2"/>
                          </a:solidFill>
                          <a:latin typeface="Calibri"/>
                        </a:rPr>
                        <a:t>0.967</a:t>
                      </a:r>
                    </a:p>
                  </a:txBody>
                  <a:tcPr marL="73152" marR="73152" marT="32004" marB="32004" anchor="ctr">
                    <a:solidFill>
                      <a:srgbClr val="121D2B"/>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4343400"/>
            <a:ext cx="11201400" cy="365760"/>
          </a:xfrm>
          <a:prstGeom prst="rect">
            <a:avLst/>
          </a:prstGeom>
          <a:noFill/>
        </p:spPr>
        <p:txBody>
          <a:bodyPr wrap="square" lIns="0" tIns="0" rIns="0" bIns="0" anchor="t">
            <a:spAutoFit/>
          </a:bodyPr>
          <a:lstStyle/>
          <a:p>
            <a:pPr algn="l">
              <a:lnSpc>
                <a:spcPct val="100000"/>
              </a:lnSpc>
              <a:spcAft>
                <a:spcPts val="0"/>
              </a:spcAft>
            </a:pPr>
            <a:r>
              <a:rPr sz="1300" b="0">
                <a:solidFill>
                  <a:srgbClr val="92A2B3"/>
                </a:solidFill>
                <a:latin typeface="Calibri"/>
              </a:rPr>
              <a:t>Detailed image captioning (wiring-diagram content made retrievable as text) won on every axis with no recall tradeoff — it became the final architecture.</a:t>
            </a:r>
          </a:p>
        </p:txBody>
      </p:sp>
      <p:sp>
        <p:nvSpPr>
          <p:cNvPr id="8" name="Rounded Rectangle 7"/>
          <p:cNvSpPr/>
          <p:nvPr/>
        </p:nvSpPr>
        <p:spPr>
          <a:xfrm>
            <a:off x="502920" y="4892040"/>
            <a:ext cx="2697480" cy="137160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5056632"/>
            <a:ext cx="2423160" cy="68580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0.967</a:t>
            </a:r>
          </a:p>
        </p:txBody>
      </p:sp>
      <p:sp>
        <p:nvSpPr>
          <p:cNvPr id="10" name="TextBox 9"/>
          <p:cNvSpPr txBox="1"/>
          <p:nvPr/>
        </p:nvSpPr>
        <p:spPr>
          <a:xfrm>
            <a:off x="594360" y="576072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Faithfulness</a:t>
            </a:r>
          </a:p>
        </p:txBody>
      </p:sp>
      <p:sp>
        <p:nvSpPr>
          <p:cNvPr id="11" name="Rounded Rectangle 10"/>
          <p:cNvSpPr/>
          <p:nvPr/>
        </p:nvSpPr>
        <p:spPr>
          <a:xfrm>
            <a:off x="3383280" y="4892040"/>
            <a:ext cx="2697480" cy="137160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0440" y="5056632"/>
            <a:ext cx="2423160" cy="68580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0.910</a:t>
            </a:r>
          </a:p>
        </p:txBody>
      </p:sp>
      <p:sp>
        <p:nvSpPr>
          <p:cNvPr id="13" name="TextBox 12"/>
          <p:cNvSpPr txBox="1"/>
          <p:nvPr/>
        </p:nvSpPr>
        <p:spPr>
          <a:xfrm>
            <a:off x="3474720" y="576072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Answer relevancy</a:t>
            </a:r>
          </a:p>
        </p:txBody>
      </p:sp>
      <p:sp>
        <p:nvSpPr>
          <p:cNvPr id="14" name="Rounded Rectangle 13"/>
          <p:cNvSpPr/>
          <p:nvPr/>
        </p:nvSpPr>
        <p:spPr>
          <a:xfrm>
            <a:off x="6263640" y="4892040"/>
            <a:ext cx="2697480" cy="137160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5056632"/>
            <a:ext cx="2423160" cy="68580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0.779</a:t>
            </a:r>
          </a:p>
        </p:txBody>
      </p:sp>
      <p:sp>
        <p:nvSpPr>
          <p:cNvPr id="16" name="TextBox 15"/>
          <p:cNvSpPr txBox="1"/>
          <p:nvPr/>
        </p:nvSpPr>
        <p:spPr>
          <a:xfrm>
            <a:off x="6355080" y="576072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Context precision</a:t>
            </a:r>
          </a:p>
        </p:txBody>
      </p:sp>
      <p:sp>
        <p:nvSpPr>
          <p:cNvPr id="17" name="Rounded Rectangle 16"/>
          <p:cNvSpPr/>
          <p:nvPr/>
        </p:nvSpPr>
        <p:spPr>
          <a:xfrm>
            <a:off x="9144000" y="4892040"/>
            <a:ext cx="2697480" cy="137160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81160" y="5056632"/>
            <a:ext cx="2423160" cy="68580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0.922</a:t>
            </a:r>
          </a:p>
        </p:txBody>
      </p:sp>
      <p:sp>
        <p:nvSpPr>
          <p:cNvPr id="19" name="TextBox 18"/>
          <p:cNvSpPr txBox="1"/>
          <p:nvPr/>
        </p:nvSpPr>
        <p:spPr>
          <a:xfrm>
            <a:off x="9235440" y="576072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Context recall</a:t>
            </a:r>
          </a:p>
        </p:txBody>
      </p:sp>
      <p:sp>
        <p:nvSpPr>
          <p:cNvPr id="20" name="TextBox 19"/>
          <p:cNvSpPr txBox="1"/>
          <p:nvPr/>
        </p:nvSpPr>
        <p:spPr>
          <a:xfrm>
            <a:off x="502920" y="6355080"/>
            <a:ext cx="10972800" cy="274320"/>
          </a:xfrm>
          <a:prstGeom prst="rect">
            <a:avLst/>
          </a:prstGeom>
          <a:noFill/>
        </p:spPr>
        <p:txBody>
          <a:bodyPr wrap="square" lIns="0" tIns="0" rIns="0" bIns="0" anchor="t">
            <a:spAutoFit/>
          </a:bodyPr>
          <a:lstStyle/>
          <a:p>
            <a:pPr algn="l">
              <a:lnSpc>
                <a:spcPct val="100000"/>
              </a:lnSpc>
              <a:spcAft>
                <a:spcPts val="0"/>
              </a:spcAft>
            </a:pPr>
            <a:r>
              <a:rPr sz="1150" b="0">
                <a:solidFill>
                  <a:srgbClr val="92A2B3"/>
                </a:solidFill>
                <a:latin typeface="Calibri"/>
              </a:rPr>
              <a:t>Final architecture, full 30-question set — 28/30 answers scored perfect faithfulness.</a:t>
            </a:r>
          </a:p>
        </p:txBody>
      </p:sp>
      <p:sp>
        <p:nvSpPr>
          <p:cNvPr id="21" name="TextBox 20"/>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22" name="TextBox 21"/>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14</a:t>
            </a:r>
          </a:p>
        </p:txBody>
      </p:sp>
      <p:cxnSp>
        <p:nvCxnSpPr>
          <p:cNvPr id="23" name="Connector 22"/>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AGENT EVALUATION — ROUTING &amp; TOOL SELECTION</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Three saved runs across three days of iteration</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874519"/>
          <a:ext cx="11201395" cy="1965960"/>
        </p:xfrm>
        <a:graphic>
          <a:graphicData uri="http://schemas.openxmlformats.org/drawingml/2006/table">
            <a:tbl>
              <a:tblPr>
                <a:tableStyleId>{5C22544A-7EE6-4342-B048-85BDC9FD1C3A}</a:tableStyleId>
              </a:tblPr>
              <a:tblGrid>
                <a:gridCol w="2310602">
                  <a:extLst>
                    <a:ext uri="{9D8B030D-6E8A-4147-A177-3AD203B41FA5}">
                      <a16:colId xmlns:a16="http://schemas.microsoft.com/office/drawing/2014/main" val="20000"/>
                    </a:ext>
                  </a:extLst>
                </a:gridCol>
                <a:gridCol w="1205531">
                  <a:extLst>
                    <a:ext uri="{9D8B030D-6E8A-4147-A177-3AD203B41FA5}">
                      <a16:colId xmlns:a16="http://schemas.microsoft.com/office/drawing/2014/main" val="20001"/>
                    </a:ext>
                  </a:extLst>
                </a:gridCol>
                <a:gridCol w="1004609">
                  <a:extLst>
                    <a:ext uri="{9D8B030D-6E8A-4147-A177-3AD203B41FA5}">
                      <a16:colId xmlns:a16="http://schemas.microsoft.com/office/drawing/2014/main" val="20002"/>
                    </a:ext>
                  </a:extLst>
                </a:gridCol>
                <a:gridCol w="1506914">
                  <a:extLst>
                    <a:ext uri="{9D8B030D-6E8A-4147-A177-3AD203B41FA5}">
                      <a16:colId xmlns:a16="http://schemas.microsoft.com/office/drawing/2014/main" val="20003"/>
                    </a:ext>
                  </a:extLst>
                </a:gridCol>
                <a:gridCol w="1506914">
                  <a:extLst>
                    <a:ext uri="{9D8B030D-6E8A-4147-A177-3AD203B41FA5}">
                      <a16:colId xmlns:a16="http://schemas.microsoft.com/office/drawing/2014/main" val="20004"/>
                    </a:ext>
                  </a:extLst>
                </a:gridCol>
                <a:gridCol w="2059450">
                  <a:extLst>
                    <a:ext uri="{9D8B030D-6E8A-4147-A177-3AD203B41FA5}">
                      <a16:colId xmlns:a16="http://schemas.microsoft.com/office/drawing/2014/main" val="20005"/>
                    </a:ext>
                  </a:extLst>
                </a:gridCol>
                <a:gridCol w="1607375">
                  <a:extLst>
                    <a:ext uri="{9D8B030D-6E8A-4147-A177-3AD203B41FA5}">
                      <a16:colId xmlns:a16="http://schemas.microsoft.com/office/drawing/2014/main" val="20006"/>
                    </a:ext>
                  </a:extLst>
                </a:gridCol>
              </a:tblGrid>
              <a:tr h="491490">
                <a:tc>
                  <a:txBody>
                    <a:bodyPr/>
                    <a:lstStyle/>
                    <a:p>
                      <a:pPr algn="l"/>
                      <a:r>
                        <a:rPr sz="1400" b="1">
                          <a:solidFill>
                            <a:srgbClr val="33DDC2"/>
                          </a:solidFill>
                          <a:latin typeface="Calibri"/>
                        </a:rPr>
                        <a:t>Run</a:t>
                      </a:r>
                    </a:p>
                  </a:txBody>
                  <a:tcPr marL="73152" marR="73152" marT="36576" marB="36576" anchor="ctr">
                    <a:solidFill>
                      <a:srgbClr val="172435"/>
                    </a:solidFill>
                  </a:tcPr>
                </a:tc>
                <a:tc>
                  <a:txBody>
                    <a:bodyPr/>
                    <a:lstStyle/>
                    <a:p>
                      <a:pPr algn="ctr"/>
                      <a:r>
                        <a:rPr sz="1400" b="1">
                          <a:solidFill>
                            <a:srgbClr val="33DDC2"/>
                          </a:solidFill>
                          <a:latin typeface="Calibri"/>
                        </a:rPr>
                        <a:t>Date</a:t>
                      </a:r>
                    </a:p>
                  </a:txBody>
                  <a:tcPr marL="73152" marR="73152" marT="36576" marB="36576" anchor="ctr">
                    <a:solidFill>
                      <a:srgbClr val="172435"/>
                    </a:solidFill>
                  </a:tcPr>
                </a:tc>
                <a:tc>
                  <a:txBody>
                    <a:bodyPr/>
                    <a:lstStyle/>
                    <a:p>
                      <a:pPr algn="ctr"/>
                      <a:r>
                        <a:rPr sz="1400" b="1">
                          <a:solidFill>
                            <a:srgbClr val="33DDC2"/>
                          </a:solidFill>
                          <a:latin typeface="Calibri"/>
                        </a:rPr>
                        <a:t>Cases</a:t>
                      </a:r>
                    </a:p>
                  </a:txBody>
                  <a:tcPr marL="73152" marR="73152" marT="36576" marB="36576" anchor="ctr">
                    <a:solidFill>
                      <a:srgbClr val="172435"/>
                    </a:solidFill>
                  </a:tcPr>
                </a:tc>
                <a:tc>
                  <a:txBody>
                    <a:bodyPr/>
                    <a:lstStyle/>
                    <a:p>
                      <a:pPr algn="ctr"/>
                      <a:r>
                        <a:rPr sz="1400" b="1">
                          <a:solidFill>
                            <a:srgbClr val="33DDC2"/>
                          </a:solidFill>
                          <a:latin typeface="Calibri"/>
                        </a:rPr>
                        <a:t>Case Pass</a:t>
                      </a:r>
                    </a:p>
                  </a:txBody>
                  <a:tcPr marL="73152" marR="73152" marT="36576" marB="36576" anchor="ctr">
                    <a:solidFill>
                      <a:srgbClr val="172435"/>
                    </a:solidFill>
                  </a:tcPr>
                </a:tc>
                <a:tc>
                  <a:txBody>
                    <a:bodyPr/>
                    <a:lstStyle/>
                    <a:p>
                      <a:pPr algn="ctr"/>
                      <a:r>
                        <a:rPr sz="1400" b="1">
                          <a:solidFill>
                            <a:srgbClr val="33DDC2"/>
                          </a:solidFill>
                          <a:latin typeface="Calibri"/>
                        </a:rPr>
                        <a:t>Route Acc.</a:t>
                      </a:r>
                    </a:p>
                  </a:txBody>
                  <a:tcPr marL="73152" marR="73152" marT="36576" marB="36576" anchor="ctr">
                    <a:solidFill>
                      <a:srgbClr val="172435"/>
                    </a:solidFill>
                  </a:tcPr>
                </a:tc>
                <a:tc>
                  <a:txBody>
                    <a:bodyPr/>
                    <a:lstStyle/>
                    <a:p>
                      <a:pPr algn="ctr"/>
                      <a:r>
                        <a:rPr sz="1400" b="1">
                          <a:solidFill>
                            <a:srgbClr val="33DDC2"/>
                          </a:solidFill>
                          <a:latin typeface="Calibri"/>
                        </a:rPr>
                        <a:t>Tool Selection Acc.</a:t>
                      </a:r>
                    </a:p>
                  </a:txBody>
                  <a:tcPr marL="73152" marR="73152" marT="36576" marB="36576" anchor="ctr">
                    <a:solidFill>
                      <a:srgbClr val="172435"/>
                    </a:solidFill>
                  </a:tcPr>
                </a:tc>
                <a:tc>
                  <a:txBody>
                    <a:bodyPr/>
                    <a:lstStyle/>
                    <a:p>
                      <a:pPr algn="ctr"/>
                      <a:r>
                        <a:rPr sz="1400" b="1">
                          <a:solidFill>
                            <a:srgbClr val="33DDC2"/>
                          </a:solidFill>
                          <a:latin typeface="Calibri"/>
                        </a:rPr>
                        <a:t>Guardrail Acc.</a:t>
                      </a:r>
                    </a:p>
                  </a:txBody>
                  <a:tcPr marL="73152" marR="73152" marT="36576" marB="36576" anchor="ctr">
                    <a:solidFill>
                      <a:srgbClr val="172435"/>
                    </a:solidFill>
                  </a:tcPr>
                </a:tc>
                <a:extLst>
                  <a:ext uri="{0D108BD9-81ED-4DB2-BD59-A6C34878D82A}">
                    <a16:rowId xmlns:a16="http://schemas.microsoft.com/office/drawing/2014/main" val="10000"/>
                  </a:ext>
                </a:extLst>
              </a:tr>
              <a:tr h="491490">
                <a:tc>
                  <a:txBody>
                    <a:bodyPr/>
                    <a:lstStyle/>
                    <a:p>
                      <a:pPr algn="l"/>
                      <a:r>
                        <a:rPr sz="1300" b="0">
                          <a:solidFill>
                            <a:srgbClr val="F3F6F8"/>
                          </a:solidFill>
                          <a:latin typeface="Calibri"/>
                        </a:rPr>
                        <a:t>First_eval</a:t>
                      </a:r>
                    </a:p>
                  </a:txBody>
                  <a:tcPr marL="73152" marR="73152" marT="32004" marB="32004" anchor="ctr">
                    <a:solidFill>
                      <a:srgbClr val="121D2B"/>
                    </a:solidFill>
                  </a:tcPr>
                </a:tc>
                <a:tc>
                  <a:txBody>
                    <a:bodyPr/>
                    <a:lstStyle/>
                    <a:p>
                      <a:pPr algn="ctr"/>
                      <a:r>
                        <a:rPr sz="1300" b="0">
                          <a:solidFill>
                            <a:srgbClr val="F3F6F8"/>
                          </a:solidFill>
                          <a:latin typeface="Calibri"/>
                        </a:rPr>
                        <a:t>Aug 18</a:t>
                      </a:r>
                    </a:p>
                  </a:txBody>
                  <a:tcPr marL="73152" marR="73152" marT="32004" marB="32004" anchor="ctr">
                    <a:solidFill>
                      <a:srgbClr val="121D2B"/>
                    </a:solidFill>
                  </a:tcPr>
                </a:tc>
                <a:tc>
                  <a:txBody>
                    <a:bodyPr/>
                    <a:lstStyle/>
                    <a:p>
                      <a:pPr algn="ctr"/>
                      <a:r>
                        <a:rPr sz="1300" b="0">
                          <a:solidFill>
                            <a:srgbClr val="F3F6F8"/>
                          </a:solidFill>
                          <a:latin typeface="Calibri"/>
                        </a:rPr>
                        <a:t>29</a:t>
                      </a:r>
                    </a:p>
                  </a:txBody>
                  <a:tcPr marL="73152" marR="73152" marT="32004" marB="32004" anchor="ctr">
                    <a:solidFill>
                      <a:srgbClr val="121D2B"/>
                    </a:solidFill>
                  </a:tcPr>
                </a:tc>
                <a:tc>
                  <a:txBody>
                    <a:bodyPr/>
                    <a:lstStyle/>
                    <a:p>
                      <a:pPr algn="ctr"/>
                      <a:r>
                        <a:rPr sz="1300" b="0">
                          <a:solidFill>
                            <a:srgbClr val="F3F6F8"/>
                          </a:solidFill>
                          <a:latin typeface="Calibri"/>
                        </a:rPr>
                        <a:t>51.7%</a:t>
                      </a:r>
                    </a:p>
                  </a:txBody>
                  <a:tcPr marL="73152" marR="73152" marT="32004" marB="32004" anchor="ctr">
                    <a:solidFill>
                      <a:srgbClr val="121D2B"/>
                    </a:solidFill>
                  </a:tcPr>
                </a:tc>
                <a:tc>
                  <a:txBody>
                    <a:bodyPr/>
                    <a:lstStyle/>
                    <a:p>
                      <a:pPr algn="ctr"/>
                      <a:r>
                        <a:rPr sz="1300" b="0">
                          <a:solidFill>
                            <a:srgbClr val="F3F6F8"/>
                          </a:solidFill>
                          <a:latin typeface="Calibri"/>
                        </a:rPr>
                        <a:t>69.0%</a:t>
                      </a:r>
                    </a:p>
                  </a:txBody>
                  <a:tcPr marL="73152" marR="73152" marT="32004" marB="32004" anchor="ctr">
                    <a:solidFill>
                      <a:srgbClr val="121D2B"/>
                    </a:solidFill>
                  </a:tcPr>
                </a:tc>
                <a:tc>
                  <a:txBody>
                    <a:bodyPr/>
                    <a:lstStyle/>
                    <a:p>
                      <a:pPr algn="ctr"/>
                      <a:r>
                        <a:rPr sz="1300" b="0">
                          <a:solidFill>
                            <a:srgbClr val="F3F6F8"/>
                          </a:solidFill>
                          <a:latin typeface="Calibri"/>
                        </a:rPr>
                        <a:t>75.9%</a:t>
                      </a:r>
                    </a:p>
                  </a:txBody>
                  <a:tcPr marL="73152" marR="73152" marT="32004" marB="32004" anchor="ctr">
                    <a:solidFill>
                      <a:srgbClr val="121D2B"/>
                    </a:solidFill>
                  </a:tcPr>
                </a:tc>
                <a:tc>
                  <a:txBody>
                    <a:bodyPr/>
                    <a:lstStyle/>
                    <a:p>
                      <a:pPr algn="ctr"/>
                      <a:r>
                        <a:rPr sz="1300" b="0">
                          <a:solidFill>
                            <a:srgbClr val="F3F6F8"/>
                          </a:solidFill>
                          <a:latin typeface="Calibri"/>
                        </a:rPr>
                        <a:t>93.1%</a:t>
                      </a:r>
                    </a:p>
                  </a:txBody>
                  <a:tcPr marL="73152" marR="73152" marT="32004" marB="32004" anchor="ctr">
                    <a:solidFill>
                      <a:srgbClr val="121D2B"/>
                    </a:solidFill>
                  </a:tcPr>
                </a:tc>
                <a:extLst>
                  <a:ext uri="{0D108BD9-81ED-4DB2-BD59-A6C34878D82A}">
                    <a16:rowId xmlns:a16="http://schemas.microsoft.com/office/drawing/2014/main" val="10001"/>
                  </a:ext>
                </a:extLst>
              </a:tr>
              <a:tr h="491490">
                <a:tc>
                  <a:txBody>
                    <a:bodyPr/>
                    <a:lstStyle/>
                    <a:p>
                      <a:pPr algn="l"/>
                      <a:r>
                        <a:rPr sz="1300" b="0">
                          <a:solidFill>
                            <a:srgbClr val="F3F6F8"/>
                          </a:solidFill>
                          <a:latin typeface="Calibri"/>
                        </a:rPr>
                        <a:t>baseline</a:t>
                      </a:r>
                    </a:p>
                  </a:txBody>
                  <a:tcPr marL="73152" marR="73152" marT="32004" marB="32004" anchor="ctr">
                    <a:solidFill>
                      <a:srgbClr val="121D2B"/>
                    </a:solidFill>
                  </a:tcPr>
                </a:tc>
                <a:tc>
                  <a:txBody>
                    <a:bodyPr/>
                    <a:lstStyle/>
                    <a:p>
                      <a:pPr algn="ctr"/>
                      <a:r>
                        <a:rPr sz="1300" b="0">
                          <a:solidFill>
                            <a:srgbClr val="F3F6F8"/>
                          </a:solidFill>
                          <a:latin typeface="Calibri"/>
                        </a:rPr>
                        <a:t>Aug 20</a:t>
                      </a:r>
                    </a:p>
                  </a:txBody>
                  <a:tcPr marL="73152" marR="73152" marT="32004" marB="32004" anchor="ctr">
                    <a:solidFill>
                      <a:srgbClr val="121D2B"/>
                    </a:solidFill>
                  </a:tcPr>
                </a:tc>
                <a:tc>
                  <a:txBody>
                    <a:bodyPr/>
                    <a:lstStyle/>
                    <a:p>
                      <a:pPr algn="ctr"/>
                      <a:r>
                        <a:rPr sz="1300" b="0">
                          <a:solidFill>
                            <a:srgbClr val="F3F6F8"/>
                          </a:solidFill>
                          <a:latin typeface="Calibri"/>
                        </a:rPr>
                        <a:t>28</a:t>
                      </a:r>
                    </a:p>
                  </a:txBody>
                  <a:tcPr marL="73152" marR="73152" marT="32004" marB="32004" anchor="ctr">
                    <a:solidFill>
                      <a:srgbClr val="121D2B"/>
                    </a:solidFill>
                  </a:tcPr>
                </a:tc>
                <a:tc>
                  <a:txBody>
                    <a:bodyPr/>
                    <a:lstStyle/>
                    <a:p>
                      <a:pPr algn="ctr"/>
                      <a:r>
                        <a:rPr sz="1300" b="0">
                          <a:solidFill>
                            <a:srgbClr val="F3F6F8"/>
                          </a:solidFill>
                          <a:latin typeface="Calibri"/>
                        </a:rPr>
                        <a:t>71.4%</a:t>
                      </a:r>
                    </a:p>
                  </a:txBody>
                  <a:tcPr marL="73152" marR="73152" marT="32004" marB="32004" anchor="ctr">
                    <a:solidFill>
                      <a:srgbClr val="121D2B"/>
                    </a:solidFill>
                  </a:tcPr>
                </a:tc>
                <a:tc>
                  <a:txBody>
                    <a:bodyPr/>
                    <a:lstStyle/>
                    <a:p>
                      <a:pPr algn="ctr"/>
                      <a:r>
                        <a:rPr sz="1300" b="0">
                          <a:solidFill>
                            <a:srgbClr val="F3F6F8"/>
                          </a:solidFill>
                          <a:latin typeface="Calibri"/>
                        </a:rPr>
                        <a:t>100%</a:t>
                      </a:r>
                    </a:p>
                  </a:txBody>
                  <a:tcPr marL="73152" marR="73152" marT="32004" marB="32004" anchor="ctr">
                    <a:solidFill>
                      <a:srgbClr val="121D2B"/>
                    </a:solidFill>
                  </a:tcPr>
                </a:tc>
                <a:tc>
                  <a:txBody>
                    <a:bodyPr/>
                    <a:lstStyle/>
                    <a:p>
                      <a:pPr algn="ctr"/>
                      <a:r>
                        <a:rPr sz="1300" b="0">
                          <a:solidFill>
                            <a:srgbClr val="F3F6F8"/>
                          </a:solidFill>
                          <a:latin typeface="Calibri"/>
                        </a:rPr>
                        <a:t>82.1%</a:t>
                      </a:r>
                    </a:p>
                  </a:txBody>
                  <a:tcPr marL="73152" marR="73152" marT="32004" marB="32004" anchor="ctr">
                    <a:solidFill>
                      <a:srgbClr val="121D2B"/>
                    </a:solidFill>
                  </a:tcPr>
                </a:tc>
                <a:tc>
                  <a:txBody>
                    <a:bodyPr/>
                    <a:lstStyle/>
                    <a:p>
                      <a:pPr algn="ctr"/>
                      <a:r>
                        <a:rPr sz="1300" b="0">
                          <a:solidFill>
                            <a:srgbClr val="F3F6F8"/>
                          </a:solidFill>
                          <a:latin typeface="Calibri"/>
                        </a:rPr>
                        <a:t>100%</a:t>
                      </a:r>
                    </a:p>
                  </a:txBody>
                  <a:tcPr marL="73152" marR="73152" marT="32004" marB="32004" anchor="ctr">
                    <a:solidFill>
                      <a:srgbClr val="121D2B"/>
                    </a:solidFill>
                  </a:tcPr>
                </a:tc>
                <a:extLst>
                  <a:ext uri="{0D108BD9-81ED-4DB2-BD59-A6C34878D82A}">
                    <a16:rowId xmlns:a16="http://schemas.microsoft.com/office/drawing/2014/main" val="10002"/>
                  </a:ext>
                </a:extLst>
              </a:tr>
              <a:tr h="491490">
                <a:tc>
                  <a:txBody>
                    <a:bodyPr/>
                    <a:lstStyle/>
                    <a:p>
                      <a:pPr algn="l"/>
                      <a:r>
                        <a:rPr sz="1300" b="0">
                          <a:solidFill>
                            <a:srgbClr val="F3F6F8"/>
                          </a:solidFill>
                          <a:latin typeface="Calibri"/>
                        </a:rPr>
                        <a:t>final_submission</a:t>
                      </a:r>
                    </a:p>
                  </a:txBody>
                  <a:tcPr marL="73152" marR="73152" marT="32004" marB="32004" anchor="ctr">
                    <a:solidFill>
                      <a:srgbClr val="0F2E2A"/>
                    </a:solidFill>
                  </a:tcPr>
                </a:tc>
                <a:tc>
                  <a:txBody>
                    <a:bodyPr/>
                    <a:lstStyle/>
                    <a:p>
                      <a:pPr algn="ctr"/>
                      <a:r>
                        <a:rPr sz="1300" b="0">
                          <a:solidFill>
                            <a:srgbClr val="F3F6F8"/>
                          </a:solidFill>
                          <a:latin typeface="Calibri"/>
                        </a:rPr>
                        <a:t>Aug 21</a:t>
                      </a:r>
                    </a:p>
                  </a:txBody>
                  <a:tcPr marL="73152" marR="73152" marT="32004" marB="32004" anchor="ctr">
                    <a:solidFill>
                      <a:srgbClr val="0F2E2A"/>
                    </a:solidFill>
                  </a:tcPr>
                </a:tc>
                <a:tc>
                  <a:txBody>
                    <a:bodyPr/>
                    <a:lstStyle/>
                    <a:p>
                      <a:pPr algn="ctr"/>
                      <a:r>
                        <a:rPr sz="1300" b="0">
                          <a:solidFill>
                            <a:srgbClr val="F3F6F8"/>
                          </a:solidFill>
                          <a:latin typeface="Calibri"/>
                        </a:rPr>
                        <a:t>28</a:t>
                      </a:r>
                    </a:p>
                  </a:txBody>
                  <a:tcPr marL="73152" marR="73152" marT="32004" marB="32004" anchor="ctr">
                    <a:solidFill>
                      <a:srgbClr val="0F2E2A"/>
                    </a:solidFill>
                  </a:tcPr>
                </a:tc>
                <a:tc>
                  <a:txBody>
                    <a:bodyPr/>
                    <a:lstStyle/>
                    <a:p>
                      <a:pPr algn="ctr"/>
                      <a:r>
                        <a:rPr sz="1300" b="0">
                          <a:solidFill>
                            <a:srgbClr val="F3F6F8"/>
                          </a:solidFill>
                          <a:latin typeface="Calibri"/>
                        </a:rPr>
                        <a:t>100%</a:t>
                      </a:r>
                    </a:p>
                  </a:txBody>
                  <a:tcPr marL="73152" marR="73152" marT="32004" marB="32004" anchor="ctr">
                    <a:solidFill>
                      <a:srgbClr val="0F2E2A"/>
                    </a:solidFill>
                  </a:tcPr>
                </a:tc>
                <a:tc>
                  <a:txBody>
                    <a:bodyPr/>
                    <a:lstStyle/>
                    <a:p>
                      <a:pPr algn="ctr"/>
                      <a:r>
                        <a:rPr sz="1300" b="0">
                          <a:solidFill>
                            <a:srgbClr val="F3F6F8"/>
                          </a:solidFill>
                          <a:latin typeface="Calibri"/>
                        </a:rPr>
                        <a:t>100%</a:t>
                      </a:r>
                    </a:p>
                  </a:txBody>
                  <a:tcPr marL="73152" marR="73152" marT="32004" marB="32004" anchor="ctr">
                    <a:solidFill>
                      <a:srgbClr val="0F2E2A"/>
                    </a:solidFill>
                  </a:tcPr>
                </a:tc>
                <a:tc>
                  <a:txBody>
                    <a:bodyPr/>
                    <a:lstStyle/>
                    <a:p>
                      <a:pPr algn="ctr"/>
                      <a:r>
                        <a:rPr sz="1300" b="0">
                          <a:solidFill>
                            <a:srgbClr val="F3F6F8"/>
                          </a:solidFill>
                          <a:latin typeface="Calibri"/>
                        </a:rPr>
                        <a:t>100%</a:t>
                      </a:r>
                    </a:p>
                  </a:txBody>
                  <a:tcPr marL="73152" marR="73152" marT="32004" marB="32004" anchor="ctr">
                    <a:solidFill>
                      <a:srgbClr val="0F2E2A"/>
                    </a:solidFill>
                  </a:tcPr>
                </a:tc>
                <a:tc>
                  <a:txBody>
                    <a:bodyPr/>
                    <a:lstStyle/>
                    <a:p>
                      <a:pPr algn="ctr"/>
                      <a:r>
                        <a:rPr sz="1300" b="0">
                          <a:solidFill>
                            <a:srgbClr val="F3F6F8"/>
                          </a:solidFill>
                          <a:latin typeface="Calibri"/>
                        </a:rPr>
                        <a:t>100%</a:t>
                      </a:r>
                    </a:p>
                  </a:txBody>
                  <a:tcPr marL="73152" marR="73152" marT="32004" marB="32004" anchor="ctr">
                    <a:solidFill>
                      <a:srgbClr val="0F2E2A"/>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02920" y="4160520"/>
            <a:ext cx="2697480" cy="169164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4325112"/>
            <a:ext cx="2423160" cy="100584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+48.3 pp</a:t>
            </a:r>
          </a:p>
        </p:txBody>
      </p:sp>
      <p:sp>
        <p:nvSpPr>
          <p:cNvPr id="9" name="TextBox 8"/>
          <p:cNvSpPr txBox="1"/>
          <p:nvPr/>
        </p:nvSpPr>
        <p:spPr>
          <a:xfrm>
            <a:off x="594360" y="534924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case-pass rate, First_eval → final</a:t>
            </a:r>
          </a:p>
        </p:txBody>
      </p:sp>
      <p:sp>
        <p:nvSpPr>
          <p:cNvPr id="10" name="Rounded Rectangle 9"/>
          <p:cNvSpPr/>
          <p:nvPr/>
        </p:nvSpPr>
        <p:spPr>
          <a:xfrm>
            <a:off x="3364992" y="4160520"/>
            <a:ext cx="2697480" cy="169164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02152" y="4325112"/>
            <a:ext cx="2423160" cy="100584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+31.0 pp</a:t>
            </a:r>
          </a:p>
        </p:txBody>
      </p:sp>
      <p:sp>
        <p:nvSpPr>
          <p:cNvPr id="12" name="TextBox 11"/>
          <p:cNvSpPr txBox="1"/>
          <p:nvPr/>
        </p:nvSpPr>
        <p:spPr>
          <a:xfrm>
            <a:off x="3456432" y="534924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route accuracy, First_eval → final</a:t>
            </a:r>
          </a:p>
        </p:txBody>
      </p:sp>
      <p:sp>
        <p:nvSpPr>
          <p:cNvPr id="13" name="Rounded Rectangle 12"/>
          <p:cNvSpPr/>
          <p:nvPr/>
        </p:nvSpPr>
        <p:spPr>
          <a:xfrm>
            <a:off x="6227064" y="4160520"/>
            <a:ext cx="2697480" cy="169164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4325112"/>
            <a:ext cx="2423160" cy="1005840"/>
          </a:xfrm>
          <a:prstGeom prst="rect">
            <a:avLst/>
          </a:prstGeom>
          <a:noFill/>
        </p:spPr>
        <p:txBody>
          <a:bodyPr wrap="square" lIns="0" tIns="0" rIns="0" bIns="0" anchor="ctr">
            <a:spAutoFit/>
          </a:bodyPr>
          <a:lstStyle/>
          <a:p>
            <a:pPr algn="ctr">
              <a:lnSpc>
                <a:spcPct val="100000"/>
              </a:lnSpc>
              <a:spcAft>
                <a:spcPts val="0"/>
              </a:spcAft>
            </a:pPr>
            <a:r>
              <a:rPr sz="3400" b="1">
                <a:solidFill>
                  <a:srgbClr val="5BE68A"/>
                </a:solidFill>
                <a:latin typeface="Calibri"/>
              </a:rPr>
              <a:t>+24.1 pp</a:t>
            </a:r>
          </a:p>
        </p:txBody>
      </p:sp>
      <p:sp>
        <p:nvSpPr>
          <p:cNvPr id="15" name="TextBox 14"/>
          <p:cNvSpPr txBox="1"/>
          <p:nvPr/>
        </p:nvSpPr>
        <p:spPr>
          <a:xfrm>
            <a:off x="6318504" y="534924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tool selection accuracy, First_eval → final</a:t>
            </a:r>
          </a:p>
        </p:txBody>
      </p:sp>
      <p:sp>
        <p:nvSpPr>
          <p:cNvPr id="16" name="Rounded Rectangle 15"/>
          <p:cNvSpPr/>
          <p:nvPr/>
        </p:nvSpPr>
        <p:spPr>
          <a:xfrm>
            <a:off x="9089136" y="4160520"/>
            <a:ext cx="2697480" cy="169164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26296" y="4325112"/>
            <a:ext cx="2423160" cy="1005840"/>
          </a:xfrm>
          <a:prstGeom prst="rect">
            <a:avLst/>
          </a:prstGeom>
          <a:noFill/>
        </p:spPr>
        <p:txBody>
          <a:bodyPr wrap="square" lIns="0" tIns="0" rIns="0" bIns="0" anchor="ctr">
            <a:spAutoFit/>
          </a:bodyPr>
          <a:lstStyle/>
          <a:p>
            <a:pPr algn="ctr">
              <a:lnSpc>
                <a:spcPct val="100000"/>
              </a:lnSpc>
              <a:spcAft>
                <a:spcPts val="0"/>
              </a:spcAft>
            </a:pPr>
            <a:r>
              <a:rPr sz="3400" b="1">
                <a:solidFill>
                  <a:srgbClr val="33DDC2"/>
                </a:solidFill>
                <a:latin typeface="Calibri"/>
              </a:rPr>
              <a:t>$0.0056</a:t>
            </a:r>
          </a:p>
        </p:txBody>
      </p:sp>
      <p:sp>
        <p:nvSpPr>
          <p:cNvPr id="18" name="TextBox 17"/>
          <p:cNvSpPr txBox="1"/>
          <p:nvPr/>
        </p:nvSpPr>
        <p:spPr>
          <a:xfrm>
            <a:off x="9180576" y="5349240"/>
            <a:ext cx="2514600" cy="411480"/>
          </a:xfrm>
          <a:prstGeom prst="rect">
            <a:avLst/>
          </a:prstGeom>
          <a:noFill/>
        </p:spPr>
        <p:txBody>
          <a:bodyPr wrap="square" lIns="0" tIns="0" rIns="0" bIns="0" anchor="t">
            <a:spAutoFit/>
          </a:bodyPr>
          <a:lstStyle/>
          <a:p>
            <a:pPr algn="ctr">
              <a:lnSpc>
                <a:spcPct val="100000"/>
              </a:lnSpc>
              <a:spcAft>
                <a:spcPts val="0"/>
              </a:spcAft>
            </a:pPr>
            <a:r>
              <a:rPr sz="1200" b="0">
                <a:solidFill>
                  <a:srgbClr val="92A2B3"/>
                </a:solidFill>
                <a:latin typeface="Calibri"/>
              </a:rPr>
              <a:t>avg. cost per case, held flat under tighter checks</a:t>
            </a:r>
          </a:p>
        </p:txBody>
      </p:sp>
      <p:sp>
        <p:nvSpPr>
          <p:cNvPr id="19" name="TextBox 18"/>
          <p:cNvSpPr txBox="1"/>
          <p:nvPr/>
        </p:nvSpPr>
        <p:spPr>
          <a:xfrm>
            <a:off x="502920" y="5900000"/>
            <a:ext cx="10972800" cy="560000"/>
          </a:xfrm>
          <a:prstGeom prst="rect">
            <a:avLst/>
          </a:prstGeom>
          <a:noFill/>
        </p:spPr>
        <p:txBody>
          <a:bodyPr wrap="square" lIns="0" tIns="0" rIns="0" bIns="0" anchor="t">
            <a:spAutoFit/>
          </a:bodyPr>
          <a:lstStyle/>
          <a:p>
            <a:pPr algn="l">
              <a:lnSpc>
                <a:spcPct val="100000"/>
              </a:lnSpc>
              <a:spcAft>
                <a:spcPts val="0"/>
              </a:spcAft>
            </a:pPr>
            <a:r>
              <a:rPr sz="1100" b="1">
                <a:solidFill>
                  <a:srgbClr val="F3F6F8"/>
                </a:solidFill>
                <a:latin typeface="Calibri"/>
              </a:rPr>
              <a:t>Observed: </a:t>
            </a:r>
            <a:r>
              <a:rPr sz="1100" b="0">
                <a:solidFill>
                  <a:srgbClr val="92A2B3"/>
                </a:solidFill>
                <a:latin typeface="Calibri"/>
              </a:rPr>
              <a:t>the polished 28-case set climbed to a clean 100% after iterative fixes across three saved runs — but every fix was verified by re-running those same 28 cases.</a:t>
            </a:r>
          </a:p>
          <a:p>
            <a:r>
              <a:rPr sz="1100" b="1">
                <a:solidFill>
                  <a:srgbClr val="F3F6F8"/>
                </a:solidFill>
                <a:latin typeface="Calibri"/>
              </a:rPr>
              <a:t>Improved: </a:t>
            </a:r>
            <a:r>
              <a:rPr sz="1100" b="0">
                <a:solidFill>
                  <a:srgbClr val="92A2B3"/>
                </a:solidFill>
                <a:latin typeface="Calibri"/>
              </a:rPr>
              <a:t>a separate 41-case held-out set (components/boards never touched while debugging) caught two real bugs this set never exercised — see the held-out slide.</a:t>
            </a:r>
          </a:p>
          <a:p>
            <a:r>
              <a:rPr sz="1100" b="1">
                <a:solidFill>
                  <a:srgbClr val="F3F6F8"/>
                </a:solidFill>
                <a:latin typeface="Calibri"/>
              </a:rPr>
              <a:t>Result: </a:t>
            </a:r>
            <a:r>
              <a:rPr sz="1100" b="0">
                <a:solidFill>
                  <a:srgbClr val="92A2B3"/>
                </a:solidFill>
                <a:latin typeface="Calibri"/>
              </a:rPr>
              <a:t>100% on the polished set is real for what it tests; the held-out set's 95.1% is the more honest number for this system's actual reliability.</a:t>
            </a:r>
          </a:p>
        </p:txBody>
      </p:sp>
      <p:sp>
        <p:nvSpPr>
          <p:cNvPr id="20" name="TextBox 19"/>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21" name="TextBox 20"/>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15</a:t>
            </a:r>
          </a:p>
        </p:txBody>
      </p:sp>
      <p:cxnSp>
        <p:nvCxnSpPr>
          <p:cNvPr id="22" name="Connector 21"/>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AGENT EVALUATION — CORRECTNESS</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Beyond “used the right tool” — did it actually deliver?</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874519"/>
          <a:ext cx="6675118" cy="3200400"/>
        </p:xfrm>
        <a:graphic>
          <a:graphicData uri="http://schemas.openxmlformats.org/drawingml/2006/table">
            <a:tbl>
              <a:tblPr>
                <a:tableStyleId>{5C22544A-7EE6-4342-B048-85BDC9FD1C3A}</a:tableStyleId>
              </a:tblPr>
              <a:tblGrid>
                <a:gridCol w="3384567">
                  <a:extLst>
                    <a:ext uri="{9D8B030D-6E8A-4147-A177-3AD203B41FA5}">
                      <a16:colId xmlns:a16="http://schemas.microsoft.com/office/drawing/2014/main" val="20000"/>
                    </a:ext>
                  </a:extLst>
                </a:gridCol>
                <a:gridCol w="1880315">
                  <a:extLst>
                    <a:ext uri="{9D8B030D-6E8A-4147-A177-3AD203B41FA5}">
                      <a16:colId xmlns:a16="http://schemas.microsoft.com/office/drawing/2014/main" val="20001"/>
                    </a:ext>
                  </a:extLst>
                </a:gridCol>
                <a:gridCol w="1410236">
                  <a:extLst>
                    <a:ext uri="{9D8B030D-6E8A-4147-A177-3AD203B41FA5}">
                      <a16:colId xmlns:a16="http://schemas.microsoft.com/office/drawing/2014/main" val="20002"/>
                    </a:ext>
                  </a:extLst>
                </a:gridCol>
              </a:tblGrid>
              <a:tr h="457200">
                <a:tc>
                  <a:txBody>
                    <a:bodyPr/>
                    <a:lstStyle/>
                    <a:p>
                      <a:pPr algn="l"/>
                      <a:r>
                        <a:rPr sz="1450" b="1">
                          <a:solidFill>
                            <a:srgbClr val="33DDC2"/>
                          </a:solidFill>
                          <a:latin typeface="Calibri"/>
                        </a:rPr>
                        <a:t>Correctness dimension</a:t>
                      </a:r>
                    </a:p>
                  </a:txBody>
                  <a:tcPr marL="73152" marR="73152" marT="36576" marB="36576" anchor="ctr">
                    <a:solidFill>
                      <a:srgbClr val="172435"/>
                    </a:solidFill>
                  </a:tcPr>
                </a:tc>
                <a:tc>
                  <a:txBody>
                    <a:bodyPr/>
                    <a:lstStyle/>
                    <a:p>
                      <a:pPr algn="ctr"/>
                      <a:r>
                        <a:rPr sz="1450" b="1">
                          <a:solidFill>
                            <a:srgbClr val="33DDC2"/>
                          </a:solidFill>
                          <a:latin typeface="Calibri"/>
                        </a:rPr>
                        <a:t>Passed / Total</a:t>
                      </a:r>
                    </a:p>
                  </a:txBody>
                  <a:tcPr marL="73152" marR="73152" marT="36576" marB="36576" anchor="ctr">
                    <a:solidFill>
                      <a:srgbClr val="172435"/>
                    </a:solidFill>
                  </a:tcPr>
                </a:tc>
                <a:tc>
                  <a:txBody>
                    <a:bodyPr/>
                    <a:lstStyle/>
                    <a:p>
                      <a:pPr algn="ctr"/>
                      <a:r>
                        <a:rPr sz="1450" b="1">
                          <a:solidFill>
                            <a:srgbClr val="33DDC2"/>
                          </a:solidFill>
                          <a:latin typeface="Calibri"/>
                        </a:rPr>
                        <a:t>Rate</a:t>
                      </a:r>
                    </a:p>
                  </a:txBody>
                  <a:tcPr marL="73152" marR="73152" marT="36576" marB="36576" anchor="ctr">
                    <a:solidFill>
                      <a:srgbClr val="172435"/>
                    </a:solidFill>
                  </a:tcPr>
                </a:tc>
                <a:extLst>
                  <a:ext uri="{0D108BD9-81ED-4DB2-BD59-A6C34878D82A}">
                    <a16:rowId xmlns:a16="http://schemas.microsoft.com/office/drawing/2014/main" val="10000"/>
                  </a:ext>
                </a:extLst>
              </a:tr>
              <a:tr h="457200">
                <a:tc>
                  <a:txBody>
                    <a:bodyPr/>
                    <a:lstStyle/>
                    <a:p>
                      <a:pPr algn="l"/>
                      <a:r>
                        <a:rPr sz="1350" b="0">
                          <a:solidFill>
                            <a:srgbClr val="F3F6F8"/>
                          </a:solidFill>
                          <a:latin typeface="Calibri"/>
                        </a:rPr>
                        <a:t>Task completion (LLM judge)</a:t>
                      </a:r>
                    </a:p>
                  </a:txBody>
                  <a:tcPr marL="73152" marR="73152" marT="32004" marB="32004" anchor="ctr">
                    <a:solidFill>
                      <a:srgbClr val="0F2E2A"/>
                    </a:solidFill>
                  </a:tcPr>
                </a:tc>
                <a:tc>
                  <a:txBody>
                    <a:bodyPr/>
                    <a:lstStyle/>
                    <a:p>
                      <a:pPr algn="ctr"/>
                      <a:r>
                        <a:rPr sz="1350" b="0">
                          <a:solidFill>
                            <a:srgbClr val="F3F6F8"/>
                          </a:solidFill>
                          <a:latin typeface="Calibri"/>
                        </a:rPr>
                        <a:t>14 / 15</a:t>
                      </a:r>
                    </a:p>
                  </a:txBody>
                  <a:tcPr marL="73152" marR="73152" marT="32004" marB="32004" anchor="ctr">
                    <a:solidFill>
                      <a:srgbClr val="0F2E2A"/>
                    </a:solidFill>
                  </a:tcPr>
                </a:tc>
                <a:tc>
                  <a:txBody>
                    <a:bodyPr/>
                    <a:lstStyle/>
                    <a:p>
                      <a:pPr algn="ctr"/>
                      <a:r>
                        <a:rPr sz="1350" b="0">
                          <a:solidFill>
                            <a:srgbClr val="F3F6F8"/>
                          </a:solidFill>
                          <a:latin typeface="Calibri"/>
                        </a:rPr>
                        <a:t>93.3%</a:t>
                      </a:r>
                    </a:p>
                  </a:txBody>
                  <a:tcPr marL="73152" marR="73152" marT="32004" marB="32004" anchor="ctr">
                    <a:solidFill>
                      <a:srgbClr val="0F2E2A"/>
                    </a:solidFill>
                  </a:tcPr>
                </a:tc>
                <a:extLst>
                  <a:ext uri="{0D108BD9-81ED-4DB2-BD59-A6C34878D82A}">
                    <a16:rowId xmlns:a16="http://schemas.microsoft.com/office/drawing/2014/main" val="10001"/>
                  </a:ext>
                </a:extLst>
              </a:tr>
              <a:tr h="457200">
                <a:tc>
                  <a:txBody>
                    <a:bodyPr/>
                    <a:lstStyle/>
                    <a:p>
                      <a:pPr algn="l"/>
                      <a:r>
                        <a:rPr sz="1350" b="0">
                          <a:solidFill>
                            <a:srgbClr val="F3F6F8"/>
                          </a:solidFill>
                          <a:latin typeface="Calibri"/>
                        </a:rPr>
                        <a:t>Approval correct</a:t>
                      </a:r>
                    </a:p>
                  </a:txBody>
                  <a:tcPr marL="73152" marR="73152" marT="32004" marB="32004" anchor="ctr">
                    <a:solidFill>
                      <a:srgbClr val="121D2B"/>
                    </a:solidFill>
                  </a:tcPr>
                </a:tc>
                <a:tc>
                  <a:txBody>
                    <a:bodyPr/>
                    <a:lstStyle/>
                    <a:p>
                      <a:pPr algn="ctr"/>
                      <a:r>
                        <a:rPr sz="1350" b="0">
                          <a:solidFill>
                            <a:srgbClr val="F3F6F8"/>
                          </a:solidFill>
                          <a:latin typeface="Calibri"/>
                        </a:rPr>
                        <a:t>10 / 10</a:t>
                      </a:r>
                    </a:p>
                  </a:txBody>
                  <a:tcPr marL="73152" marR="73152" marT="32004" marB="32004" anchor="ctr">
                    <a:solidFill>
                      <a:srgbClr val="121D2B"/>
                    </a:solidFill>
                  </a:tcPr>
                </a:tc>
                <a:tc>
                  <a:txBody>
                    <a:bodyPr/>
                    <a:lstStyle/>
                    <a:p>
                      <a:pPr algn="ctr"/>
                      <a:r>
                        <a:rPr sz="1350" b="0">
                          <a:solidFill>
                            <a:srgbClr val="F3F6F8"/>
                          </a:solidFill>
                          <a:latin typeface="Calibri"/>
                        </a:rPr>
                        <a:t>100%</a:t>
                      </a:r>
                    </a:p>
                  </a:txBody>
                  <a:tcPr marL="73152" marR="73152" marT="32004" marB="32004" anchor="ctr">
                    <a:solidFill>
                      <a:srgbClr val="121D2B"/>
                    </a:solidFill>
                  </a:tcPr>
                </a:tc>
                <a:extLst>
                  <a:ext uri="{0D108BD9-81ED-4DB2-BD59-A6C34878D82A}">
                    <a16:rowId xmlns:a16="http://schemas.microsoft.com/office/drawing/2014/main" val="10002"/>
                  </a:ext>
                </a:extLst>
              </a:tr>
              <a:tr h="457200">
                <a:tc>
                  <a:txBody>
                    <a:bodyPr/>
                    <a:lstStyle/>
                    <a:p>
                      <a:pPr algn="l"/>
                      <a:r>
                        <a:rPr sz="1350" b="0">
                          <a:solidFill>
                            <a:srgbClr val="F3F6F8"/>
                          </a:solidFill>
                          <a:latin typeface="Calibri"/>
                        </a:rPr>
                        <a:t>Project-state correct</a:t>
                      </a:r>
                    </a:p>
                  </a:txBody>
                  <a:tcPr marL="73152" marR="73152" marT="32004" marB="32004" anchor="ctr">
                    <a:solidFill>
                      <a:srgbClr val="121D2B"/>
                    </a:solidFill>
                  </a:tcPr>
                </a:tc>
                <a:tc>
                  <a:txBody>
                    <a:bodyPr/>
                    <a:lstStyle/>
                    <a:p>
                      <a:pPr algn="ctr"/>
                      <a:r>
                        <a:rPr sz="1350" b="0">
                          <a:solidFill>
                            <a:srgbClr val="F3F6F8"/>
                          </a:solidFill>
                          <a:latin typeface="Calibri"/>
                        </a:rPr>
                        <a:t>16 / 16</a:t>
                      </a:r>
                    </a:p>
                  </a:txBody>
                  <a:tcPr marL="73152" marR="73152" marT="32004" marB="32004" anchor="ctr">
                    <a:solidFill>
                      <a:srgbClr val="121D2B"/>
                    </a:solidFill>
                  </a:tcPr>
                </a:tc>
                <a:tc>
                  <a:txBody>
                    <a:bodyPr/>
                    <a:lstStyle/>
                    <a:p>
                      <a:pPr algn="ctr"/>
                      <a:r>
                        <a:rPr sz="1350" b="0">
                          <a:solidFill>
                            <a:srgbClr val="F3F6F8"/>
                          </a:solidFill>
                          <a:latin typeface="Calibri"/>
                        </a:rPr>
                        <a:t>100%</a:t>
                      </a:r>
                    </a:p>
                  </a:txBody>
                  <a:tcPr marL="73152" marR="73152" marT="32004" marB="32004" anchor="ctr">
                    <a:solidFill>
                      <a:srgbClr val="121D2B"/>
                    </a:solidFill>
                  </a:tcPr>
                </a:tc>
                <a:extLst>
                  <a:ext uri="{0D108BD9-81ED-4DB2-BD59-A6C34878D82A}">
                    <a16:rowId xmlns:a16="http://schemas.microsoft.com/office/drawing/2014/main" val="10003"/>
                  </a:ext>
                </a:extLst>
              </a:tr>
              <a:tr h="457200">
                <a:tc>
                  <a:txBody>
                    <a:bodyPr/>
                    <a:lstStyle/>
                    <a:p>
                      <a:pPr algn="l"/>
                      <a:r>
                        <a:rPr sz="1350" b="0">
                          <a:solidFill>
                            <a:srgbClr val="F3F6F8"/>
                          </a:solidFill>
                          <a:latin typeface="Calibri"/>
                        </a:rPr>
                        <a:t>Cross-artifact checks</a:t>
                      </a:r>
                    </a:p>
                  </a:txBody>
                  <a:tcPr marL="73152" marR="73152" marT="32004" marB="32004" anchor="ctr">
                    <a:solidFill>
                      <a:srgbClr val="121D2B"/>
                    </a:solidFill>
                  </a:tcPr>
                </a:tc>
                <a:tc>
                  <a:txBody>
                    <a:bodyPr/>
                    <a:lstStyle/>
                    <a:p>
                      <a:pPr algn="ctr"/>
                      <a:r>
                        <a:rPr sz="1350" b="0">
                          <a:solidFill>
                            <a:srgbClr val="F3F6F8"/>
                          </a:solidFill>
                          <a:latin typeface="Calibri"/>
                        </a:rPr>
                        <a:t>2 / 2</a:t>
                      </a:r>
                    </a:p>
                  </a:txBody>
                  <a:tcPr marL="73152" marR="73152" marT="32004" marB="32004" anchor="ctr">
                    <a:solidFill>
                      <a:srgbClr val="121D2B"/>
                    </a:solidFill>
                  </a:tcPr>
                </a:tc>
                <a:tc>
                  <a:txBody>
                    <a:bodyPr/>
                    <a:lstStyle/>
                    <a:p>
                      <a:pPr algn="ctr"/>
                      <a:r>
                        <a:rPr sz="1350" b="0">
                          <a:solidFill>
                            <a:srgbClr val="F3F6F8"/>
                          </a:solidFill>
                          <a:latin typeface="Calibri"/>
                        </a:rPr>
                        <a:t>100%</a:t>
                      </a:r>
                    </a:p>
                  </a:txBody>
                  <a:tcPr marL="73152" marR="73152" marT="32004" marB="32004" anchor="ctr">
                    <a:solidFill>
                      <a:srgbClr val="121D2B"/>
                    </a:solidFill>
                  </a:tcPr>
                </a:tc>
                <a:extLst>
                  <a:ext uri="{0D108BD9-81ED-4DB2-BD59-A6C34878D82A}">
                    <a16:rowId xmlns:a16="http://schemas.microsoft.com/office/drawing/2014/main" val="10004"/>
                  </a:ext>
                </a:extLst>
              </a:tr>
              <a:tr h="457200">
                <a:tc>
                  <a:txBody>
                    <a:bodyPr/>
                    <a:lstStyle/>
                    <a:p>
                      <a:pPr algn="l"/>
                      <a:r>
                        <a:rPr sz="1350" b="0">
                          <a:solidFill>
                            <a:srgbClr val="F3F6F8"/>
                          </a:solidFill>
                          <a:latin typeface="Calibri"/>
                        </a:rPr>
                        <a:t>Recovery correct</a:t>
                      </a:r>
                    </a:p>
                  </a:txBody>
                  <a:tcPr marL="73152" marR="73152" marT="32004" marB="32004" anchor="ctr">
                    <a:solidFill>
                      <a:srgbClr val="121D2B"/>
                    </a:solidFill>
                  </a:tcPr>
                </a:tc>
                <a:tc>
                  <a:txBody>
                    <a:bodyPr/>
                    <a:lstStyle/>
                    <a:p>
                      <a:pPr algn="ctr"/>
                      <a:r>
                        <a:rPr sz="1350" b="0">
                          <a:solidFill>
                            <a:srgbClr val="F3F6F8"/>
                          </a:solidFill>
                          <a:latin typeface="Calibri"/>
                        </a:rPr>
                        <a:t>1 / 1</a:t>
                      </a:r>
                    </a:p>
                  </a:txBody>
                  <a:tcPr marL="73152" marR="73152" marT="32004" marB="32004" anchor="ctr">
                    <a:solidFill>
                      <a:srgbClr val="121D2B"/>
                    </a:solidFill>
                  </a:tcPr>
                </a:tc>
                <a:tc>
                  <a:txBody>
                    <a:bodyPr/>
                    <a:lstStyle/>
                    <a:p>
                      <a:pPr algn="ctr"/>
                      <a:r>
                        <a:rPr sz="1350" b="0">
                          <a:solidFill>
                            <a:srgbClr val="F3F6F8"/>
                          </a:solidFill>
                          <a:latin typeface="Calibri"/>
                        </a:rPr>
                        <a:t>100%</a:t>
                      </a:r>
                    </a:p>
                  </a:txBody>
                  <a:tcPr marL="73152" marR="73152" marT="32004" marB="32004" anchor="ctr">
                    <a:solidFill>
                      <a:srgbClr val="121D2B"/>
                    </a:solidFill>
                  </a:tcPr>
                </a:tc>
                <a:extLst>
                  <a:ext uri="{0D108BD9-81ED-4DB2-BD59-A6C34878D82A}">
                    <a16:rowId xmlns:a16="http://schemas.microsoft.com/office/drawing/2014/main" val="10005"/>
                  </a:ext>
                </a:extLst>
              </a:tr>
              <a:tr h="457200">
                <a:tc>
                  <a:txBody>
                    <a:bodyPr/>
                    <a:lstStyle/>
                    <a:p>
                      <a:pPr algn="l"/>
                      <a:r>
                        <a:rPr sz="1350" b="0">
                          <a:solidFill>
                            <a:srgbClr val="F3F6F8"/>
                          </a:solidFill>
                          <a:latin typeface="Calibri"/>
                        </a:rPr>
                        <a:t>Required-tool recall</a:t>
                      </a:r>
                    </a:p>
                  </a:txBody>
                  <a:tcPr marL="73152" marR="73152" marT="32004" marB="32004" anchor="ctr">
                    <a:solidFill>
                      <a:srgbClr val="121D2B"/>
                    </a:solidFill>
                  </a:tcPr>
                </a:tc>
                <a:tc>
                  <a:txBody>
                    <a:bodyPr/>
                    <a:lstStyle/>
                    <a:p>
                      <a:pPr algn="ctr"/>
                      <a:r>
                        <a:rPr sz="1350" b="0">
                          <a:solidFill>
                            <a:srgbClr val="F3F6F8"/>
                          </a:solidFill>
                          <a:latin typeface="Calibri"/>
                        </a:rPr>
                        <a:t>50 / 50</a:t>
                      </a:r>
                    </a:p>
                  </a:txBody>
                  <a:tcPr marL="73152" marR="73152" marT="32004" marB="32004" anchor="ctr">
                    <a:solidFill>
                      <a:srgbClr val="121D2B"/>
                    </a:solidFill>
                  </a:tcPr>
                </a:tc>
                <a:tc>
                  <a:txBody>
                    <a:bodyPr/>
                    <a:lstStyle/>
                    <a:p>
                      <a:pPr algn="ctr"/>
                      <a:r>
                        <a:rPr sz="1350" b="0">
                          <a:solidFill>
                            <a:srgbClr val="F3F6F8"/>
                          </a:solidFill>
                          <a:latin typeface="Calibri"/>
                        </a:rPr>
                        <a:t>100%</a:t>
                      </a:r>
                    </a:p>
                  </a:txBody>
                  <a:tcPr marL="73152" marR="73152" marT="32004" marB="32004" anchor="ctr">
                    <a:solidFill>
                      <a:srgbClr val="121D2B"/>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7452360" y="1874519"/>
            <a:ext cx="4251960" cy="4206240"/>
          </a:xfrm>
          <a:prstGeom prst="rect">
            <a:avLst/>
          </a:prstGeom>
          <a:noFill/>
        </p:spPr>
        <p:txBody>
          <a:bodyPr wrap="square" lIns="0" tIns="0" rIns="0" bIns="0" anchor="t">
            <a:spAutoFit/>
          </a:bodyPr>
          <a:lstStyle/>
          <a:p>
            <a:pPr marL="256032" indent="-256032" algn="l">
              <a:lnSpc>
                <a:spcPct val="115000"/>
              </a:lnSpc>
              <a:spcAft>
                <a:spcPts val="200"/>
              </a:spcAft>
              <a:buFont typeface="Calibri"/>
              <a:buChar char="›"/>
            </a:pPr>
            <a:r>
              <a:rPr sz="1300" b="1">
                <a:solidFill>
                  <a:srgbClr val="F3F6F8"/>
                </a:solidFill>
                <a:latin typeface="Calibri"/>
              </a:rPr>
              <a:t>60.0% → 93.3%</a:t>
            </a:r>
          </a:p>
          <a:p>
            <a:pPr algn="l">
              <a:lnSpc>
                <a:spcPct val="115000"/>
              </a:lnSpc>
              <a:spcAft>
                <a:spcPts val="1000"/>
              </a:spcAft>
            </a:pPr>
            <a:r>
              <a:rPr sz="1000" b="0">
                <a:solidFill>
                  <a:srgbClr val="92A2B3"/>
                </a:solidFill>
                <a:latin typeface="Calibri"/>
              </a:rPr>
              <a:t>Task completion rose after two fixes: the coding prompt now requires the full code in the answer text, and the judge got an evidence block crediting artifacts delivered outside the answer (images, saved files) instead of penalizing silence about them.</a:t>
            </a:r>
          </a:p>
          <a:p>
            <a:pPr marL="256032" indent="-256032" algn="l">
              <a:lnSpc>
                <a:spcPct val="115000"/>
              </a:lnSpc>
              <a:spcAft>
                <a:spcPts val="200"/>
              </a:spcAft>
              <a:buFont typeface="Calibri"/>
              <a:buChar char="›"/>
            </a:pPr>
            <a:r>
              <a:rPr sz="1300" b="1">
                <a:solidFill>
                  <a:srgbClr val="F3F6F8"/>
                </a:solidFill>
                <a:latin typeface="Calibri"/>
              </a:rPr>
              <a:t>Remaining gap — rag_servo_pwm</a:t>
            </a:r>
          </a:p>
          <a:p>
            <a:pPr algn="l">
              <a:lnSpc>
                <a:spcPct val="115000"/>
              </a:lnSpc>
              <a:spcAft>
                <a:spcPts val="1000"/>
              </a:spcAft>
            </a:pPr>
            <a:r>
              <a:rPr sz="1000" b="0">
                <a:solidFill>
                  <a:srgbClr val="92A2B3"/>
                </a:solidFill>
                <a:latin typeface="Calibri"/>
              </a:rPr>
              <a:t>Answer states a 0.5–2.5ms pulse-width range; the golden goal expects the ~1–2ms “typical hobby servo” range — a genuine, narrow factual-precision miss, left as a real signal rather than loosened.</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16</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589"/>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COST &amp; EFFICIENCY</a:t>
            </a:r>
          </a:p>
        </p:txBody>
      </p:sp>
      <p:sp>
        <p:nvSpPr>
          <p:cNvPr id="4" name="TextBox 3"/>
          <p:cNvSpPr txBox="1"/>
          <p:nvPr/>
        </p:nvSpPr>
        <p:spPr>
          <a:xfrm>
            <a:off x="502920" y="822960"/>
            <a:ext cx="10972800" cy="492443"/>
          </a:xfrm>
          <a:prstGeom prst="rect">
            <a:avLst/>
          </a:prstGeom>
          <a:noFill/>
        </p:spPr>
        <p:txBody>
          <a:bodyPr wrap="square" lIns="0" tIns="0" rIns="0" bIns="0" anchor="t">
            <a:spAutoFit/>
          </a:bodyPr>
          <a:lstStyle/>
          <a:p>
            <a:pPr algn="l">
              <a:lnSpc>
                <a:spcPct val="100000"/>
              </a:lnSpc>
              <a:spcAft>
                <a:spcPts val="0"/>
              </a:spcAft>
            </a:pPr>
            <a:r>
              <a:rPr sz="3200" b="1" dirty="0">
                <a:solidFill>
                  <a:srgbClr val="F3F6F8"/>
                </a:solidFill>
                <a:latin typeface="Calibri"/>
              </a:rPr>
              <a:t>What </a:t>
            </a:r>
            <a:r>
              <a:rPr lang="en-US" sz="3200" b="1" dirty="0">
                <a:solidFill>
                  <a:srgbClr val="F3F6F8"/>
                </a:solidFill>
                <a:latin typeface="Calibri"/>
              </a:rPr>
              <a:t>does it</a:t>
            </a:r>
            <a:r>
              <a:rPr sz="3200" b="1" dirty="0">
                <a:solidFill>
                  <a:srgbClr val="F3F6F8"/>
                </a:solidFill>
                <a:latin typeface="Calibri"/>
              </a:rPr>
              <a:t> cost</a:t>
            </a:r>
            <a:r>
              <a:rPr lang="en-US" sz="3200" b="1" dirty="0">
                <a:solidFill>
                  <a:srgbClr val="F3F6F8"/>
                </a:solidFill>
                <a:latin typeface="Calibri"/>
              </a:rPr>
              <a:t>?</a:t>
            </a:r>
            <a:endParaRPr sz="3200" b="1" dirty="0">
              <a:solidFill>
                <a:srgbClr val="F3F6F8"/>
              </a:solidFill>
              <a:latin typeface="Calibri"/>
            </a:endParaRP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768095"/>
            <a:ext cx="2606040" cy="141732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958468"/>
            <a:ext cx="2331720" cy="731520"/>
          </a:xfrm>
          <a:prstGeom prst="rect">
            <a:avLst/>
          </a:prstGeom>
          <a:noFill/>
        </p:spPr>
        <p:txBody>
          <a:bodyPr wrap="square" lIns="0" tIns="0" rIns="0" bIns="0" anchor="ctr">
            <a:spAutoFit/>
          </a:bodyPr>
          <a:lstStyle/>
          <a:p>
            <a:pPr algn="ctr">
              <a:lnSpc>
                <a:spcPct val="100000"/>
              </a:lnSpc>
              <a:spcAft>
                <a:spcPts val="0"/>
              </a:spcAft>
            </a:pPr>
            <a:r>
              <a:rPr sz="3400" b="1" dirty="0">
                <a:solidFill>
                  <a:srgbClr val="F5A62B"/>
                </a:solidFill>
                <a:latin typeface="Calibri"/>
              </a:rPr>
              <a:t>$0.0056</a:t>
            </a:r>
          </a:p>
        </p:txBody>
      </p:sp>
      <p:sp>
        <p:nvSpPr>
          <p:cNvPr id="8" name="TextBox 7"/>
          <p:cNvSpPr txBox="1"/>
          <p:nvPr/>
        </p:nvSpPr>
        <p:spPr>
          <a:xfrm>
            <a:off x="487682" y="2684908"/>
            <a:ext cx="2423160" cy="411480"/>
          </a:xfrm>
          <a:prstGeom prst="rect">
            <a:avLst/>
          </a:prstGeom>
          <a:noFill/>
        </p:spPr>
        <p:txBody>
          <a:bodyPr wrap="square" lIns="0" tIns="0" rIns="0" bIns="0" anchor="t">
            <a:spAutoFit/>
          </a:bodyPr>
          <a:lstStyle/>
          <a:p>
            <a:pPr algn="ctr">
              <a:lnSpc>
                <a:spcPct val="100000"/>
              </a:lnSpc>
              <a:spcAft>
                <a:spcPts val="0"/>
              </a:spcAft>
            </a:pPr>
            <a:r>
              <a:rPr sz="1200" b="0" dirty="0">
                <a:solidFill>
                  <a:srgbClr val="92A2B3"/>
                </a:solidFill>
                <a:latin typeface="Calibri"/>
              </a:rPr>
              <a:t>Avg. cost per case</a:t>
            </a:r>
          </a:p>
        </p:txBody>
      </p:sp>
      <p:sp>
        <p:nvSpPr>
          <p:cNvPr id="9" name="Rounded Rectangle 8"/>
          <p:cNvSpPr/>
          <p:nvPr/>
        </p:nvSpPr>
        <p:spPr>
          <a:xfrm>
            <a:off x="548640" y="3425411"/>
            <a:ext cx="2606040" cy="141732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9122" y="3719868"/>
            <a:ext cx="2331720" cy="731520"/>
          </a:xfrm>
          <a:prstGeom prst="rect">
            <a:avLst/>
          </a:prstGeom>
          <a:noFill/>
        </p:spPr>
        <p:txBody>
          <a:bodyPr wrap="square" lIns="0" tIns="0" rIns="0" bIns="0" anchor="ctr">
            <a:spAutoFit/>
          </a:bodyPr>
          <a:lstStyle/>
          <a:p>
            <a:pPr algn="ctr">
              <a:lnSpc>
                <a:spcPct val="100000"/>
              </a:lnSpc>
              <a:spcAft>
                <a:spcPts val="0"/>
              </a:spcAft>
            </a:pPr>
            <a:r>
              <a:rPr sz="3400" b="1">
                <a:solidFill>
                  <a:srgbClr val="F5A62B"/>
                </a:solidFill>
                <a:latin typeface="Calibri"/>
              </a:rPr>
              <a:t>~10,143</a:t>
            </a:r>
          </a:p>
        </p:txBody>
      </p:sp>
      <p:sp>
        <p:nvSpPr>
          <p:cNvPr id="11" name="TextBox 10"/>
          <p:cNvSpPr txBox="1"/>
          <p:nvPr/>
        </p:nvSpPr>
        <p:spPr>
          <a:xfrm>
            <a:off x="579122" y="4417861"/>
            <a:ext cx="2423160" cy="411480"/>
          </a:xfrm>
          <a:prstGeom prst="rect">
            <a:avLst/>
          </a:prstGeom>
          <a:noFill/>
        </p:spPr>
        <p:txBody>
          <a:bodyPr wrap="square" lIns="0" tIns="0" rIns="0" bIns="0" anchor="t">
            <a:spAutoFit/>
          </a:bodyPr>
          <a:lstStyle/>
          <a:p>
            <a:pPr algn="ctr">
              <a:lnSpc>
                <a:spcPct val="100000"/>
              </a:lnSpc>
              <a:spcAft>
                <a:spcPts val="0"/>
              </a:spcAft>
            </a:pPr>
            <a:r>
              <a:rPr sz="1200" b="0" dirty="0">
                <a:solidFill>
                  <a:srgbClr val="92A2B3"/>
                </a:solidFill>
                <a:latin typeface="Calibri"/>
              </a:rPr>
              <a:t>Avg. tokens per case</a:t>
            </a:r>
          </a:p>
        </p:txBody>
      </p:sp>
      <p:sp>
        <p:nvSpPr>
          <p:cNvPr id="12" name="Rounded Rectangle 11"/>
          <p:cNvSpPr/>
          <p:nvPr/>
        </p:nvSpPr>
        <p:spPr>
          <a:xfrm>
            <a:off x="3792583" y="4959637"/>
            <a:ext cx="2606040" cy="141732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09060" y="5203370"/>
            <a:ext cx="2331720" cy="731520"/>
          </a:xfrm>
          <a:prstGeom prst="rect">
            <a:avLst/>
          </a:prstGeom>
          <a:noFill/>
        </p:spPr>
        <p:txBody>
          <a:bodyPr wrap="square" lIns="0" tIns="0" rIns="0" bIns="0" anchor="ctr">
            <a:spAutoFit/>
          </a:bodyPr>
          <a:lstStyle/>
          <a:p>
            <a:pPr algn="ctr">
              <a:lnSpc>
                <a:spcPct val="100000"/>
              </a:lnSpc>
              <a:spcAft>
                <a:spcPts val="0"/>
              </a:spcAft>
            </a:pPr>
            <a:r>
              <a:rPr sz="3400" b="1">
                <a:solidFill>
                  <a:srgbClr val="F5A62B"/>
                </a:solidFill>
                <a:latin typeface="Calibri"/>
              </a:rPr>
              <a:t>$0.158</a:t>
            </a:r>
          </a:p>
        </p:txBody>
      </p:sp>
      <p:sp>
        <p:nvSpPr>
          <p:cNvPr id="14" name="TextBox 13"/>
          <p:cNvSpPr txBox="1"/>
          <p:nvPr/>
        </p:nvSpPr>
        <p:spPr>
          <a:xfrm>
            <a:off x="3884023" y="5911596"/>
            <a:ext cx="2423160" cy="411480"/>
          </a:xfrm>
          <a:prstGeom prst="rect">
            <a:avLst/>
          </a:prstGeom>
          <a:noFill/>
        </p:spPr>
        <p:txBody>
          <a:bodyPr wrap="square" lIns="0" tIns="0" rIns="0" bIns="0" anchor="t">
            <a:spAutoFit/>
          </a:bodyPr>
          <a:lstStyle/>
          <a:p>
            <a:pPr algn="ctr">
              <a:lnSpc>
                <a:spcPct val="100000"/>
              </a:lnSpc>
              <a:spcAft>
                <a:spcPts val="0"/>
              </a:spcAft>
            </a:pPr>
            <a:r>
              <a:rPr sz="1200" b="0" dirty="0">
                <a:solidFill>
                  <a:srgbClr val="92A2B3"/>
                </a:solidFill>
                <a:latin typeface="Calibri"/>
              </a:rPr>
              <a:t>Total suite cost</a:t>
            </a:r>
          </a:p>
        </p:txBody>
      </p:sp>
      <p:sp>
        <p:nvSpPr>
          <p:cNvPr id="15" name="Rounded Rectangle 14"/>
          <p:cNvSpPr/>
          <p:nvPr/>
        </p:nvSpPr>
        <p:spPr>
          <a:xfrm>
            <a:off x="548640" y="4963741"/>
            <a:ext cx="2606040" cy="1417320"/>
          </a:xfrm>
          <a:prstGeom prst="roundRect">
            <a:avLst>
              <a:gd name="adj" fmla="val 8000"/>
            </a:avLst>
          </a:prstGeom>
          <a:solidFill>
            <a:srgbClr val="121D2B"/>
          </a:solidFill>
          <a:ln w="12700">
            <a:solidFill>
              <a:srgbClr val="2837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4842" y="5254446"/>
            <a:ext cx="2331720" cy="731520"/>
          </a:xfrm>
          <a:prstGeom prst="rect">
            <a:avLst/>
          </a:prstGeom>
          <a:noFill/>
        </p:spPr>
        <p:txBody>
          <a:bodyPr wrap="square" lIns="0" tIns="0" rIns="0" bIns="0" anchor="ctr">
            <a:spAutoFit/>
          </a:bodyPr>
          <a:lstStyle/>
          <a:p>
            <a:pPr algn="ctr">
              <a:lnSpc>
                <a:spcPct val="100000"/>
              </a:lnSpc>
              <a:spcAft>
                <a:spcPts val="0"/>
              </a:spcAft>
            </a:pPr>
            <a:r>
              <a:rPr sz="3400" b="1" dirty="0">
                <a:solidFill>
                  <a:srgbClr val="F5A62B"/>
                </a:solidFill>
                <a:latin typeface="Calibri"/>
              </a:rPr>
              <a:t>1.00</a:t>
            </a:r>
          </a:p>
        </p:txBody>
      </p:sp>
      <p:sp>
        <p:nvSpPr>
          <p:cNvPr id="17" name="TextBox 16"/>
          <p:cNvSpPr txBox="1"/>
          <p:nvPr/>
        </p:nvSpPr>
        <p:spPr>
          <a:xfrm>
            <a:off x="487682" y="6046471"/>
            <a:ext cx="2423160" cy="411480"/>
          </a:xfrm>
          <a:prstGeom prst="rect">
            <a:avLst/>
          </a:prstGeom>
          <a:noFill/>
        </p:spPr>
        <p:txBody>
          <a:bodyPr wrap="square" lIns="0" tIns="0" rIns="0" bIns="0" anchor="t">
            <a:spAutoFit/>
          </a:bodyPr>
          <a:lstStyle/>
          <a:p>
            <a:pPr algn="ctr">
              <a:lnSpc>
                <a:spcPct val="100000"/>
              </a:lnSpc>
              <a:spcAft>
                <a:spcPts val="0"/>
              </a:spcAft>
            </a:pPr>
            <a:r>
              <a:rPr sz="1200" b="0" dirty="0">
                <a:solidFill>
                  <a:srgbClr val="92A2B3"/>
                </a:solidFill>
                <a:latin typeface="Calibri"/>
              </a:rPr>
              <a:t>Mean step-efficiency ratio</a:t>
            </a:r>
          </a:p>
        </p:txBody>
      </p:sp>
      <p:graphicFrame>
        <p:nvGraphicFramePr>
          <p:cNvPr id="18" name="Table 17"/>
          <p:cNvGraphicFramePr>
            <a:graphicFrameLocks noGrp="1"/>
          </p:cNvGraphicFramePr>
          <p:nvPr/>
        </p:nvGraphicFramePr>
        <p:xfrm>
          <a:off x="3429000" y="1965960"/>
          <a:ext cx="8275318" cy="2377440"/>
        </p:xfrm>
        <a:graphic>
          <a:graphicData uri="http://schemas.openxmlformats.org/drawingml/2006/table">
            <a:tbl>
              <a:tblPr>
                <a:tableStyleId>{5C22544A-7EE6-4342-B048-85BDC9FD1C3A}</a:tableStyleId>
              </a:tblPr>
              <a:tblGrid>
                <a:gridCol w="2501840">
                  <a:extLst>
                    <a:ext uri="{9D8B030D-6E8A-4147-A177-3AD203B41FA5}">
                      <a16:colId xmlns:a16="http://schemas.microsoft.com/office/drawing/2014/main" val="20000"/>
                    </a:ext>
                  </a:extLst>
                </a:gridCol>
                <a:gridCol w="2116942">
                  <a:extLst>
                    <a:ext uri="{9D8B030D-6E8A-4147-A177-3AD203B41FA5}">
                      <a16:colId xmlns:a16="http://schemas.microsoft.com/office/drawing/2014/main" val="20001"/>
                    </a:ext>
                  </a:extLst>
                </a:gridCol>
                <a:gridCol w="1828268">
                  <a:extLst>
                    <a:ext uri="{9D8B030D-6E8A-4147-A177-3AD203B41FA5}">
                      <a16:colId xmlns:a16="http://schemas.microsoft.com/office/drawing/2014/main" val="20002"/>
                    </a:ext>
                  </a:extLst>
                </a:gridCol>
                <a:gridCol w="1828268">
                  <a:extLst>
                    <a:ext uri="{9D8B030D-6E8A-4147-A177-3AD203B41FA5}">
                      <a16:colId xmlns:a16="http://schemas.microsoft.com/office/drawing/2014/main" val="20003"/>
                    </a:ext>
                  </a:extLst>
                </a:gridCol>
              </a:tblGrid>
              <a:tr h="475488">
                <a:tc>
                  <a:txBody>
                    <a:bodyPr/>
                    <a:lstStyle/>
                    <a:p>
                      <a:pPr algn="l"/>
                      <a:r>
                        <a:rPr sz="1400" b="1">
                          <a:solidFill>
                            <a:srgbClr val="33DDC2"/>
                          </a:solidFill>
                          <a:latin typeface="Calibri"/>
                        </a:rPr>
                        <a:t>Model</a:t>
                      </a:r>
                    </a:p>
                  </a:txBody>
                  <a:tcPr marL="73152" marR="73152" marT="36576" marB="36576" anchor="ctr">
                    <a:solidFill>
                      <a:srgbClr val="172435"/>
                    </a:solidFill>
                  </a:tcPr>
                </a:tc>
                <a:tc>
                  <a:txBody>
                    <a:bodyPr/>
                    <a:lstStyle/>
                    <a:p>
                      <a:pPr algn="ctr"/>
                      <a:r>
                        <a:rPr sz="1400" b="1">
                          <a:solidFill>
                            <a:srgbClr val="33DDC2"/>
                          </a:solidFill>
                          <a:latin typeface="Calibri"/>
                        </a:rPr>
                        <a:t>Role</a:t>
                      </a:r>
                    </a:p>
                  </a:txBody>
                  <a:tcPr marL="73152" marR="73152" marT="36576" marB="36576" anchor="ctr">
                    <a:solidFill>
                      <a:srgbClr val="172435"/>
                    </a:solidFill>
                  </a:tcPr>
                </a:tc>
                <a:tc>
                  <a:txBody>
                    <a:bodyPr/>
                    <a:lstStyle/>
                    <a:p>
                      <a:pPr algn="ctr"/>
                      <a:r>
                        <a:rPr sz="1400" b="1">
                          <a:solidFill>
                            <a:srgbClr val="33DDC2"/>
                          </a:solidFill>
                          <a:latin typeface="Calibri"/>
                        </a:rPr>
                        <a:t>$ / M input</a:t>
                      </a:r>
                    </a:p>
                  </a:txBody>
                  <a:tcPr marL="73152" marR="73152" marT="36576" marB="36576" anchor="ctr">
                    <a:solidFill>
                      <a:srgbClr val="172435"/>
                    </a:solidFill>
                  </a:tcPr>
                </a:tc>
                <a:tc>
                  <a:txBody>
                    <a:bodyPr/>
                    <a:lstStyle/>
                    <a:p>
                      <a:pPr algn="ctr"/>
                      <a:r>
                        <a:rPr sz="1400" b="1">
                          <a:solidFill>
                            <a:srgbClr val="33DDC2"/>
                          </a:solidFill>
                          <a:latin typeface="Calibri"/>
                        </a:rPr>
                        <a:t>$ / M output</a:t>
                      </a:r>
                    </a:p>
                  </a:txBody>
                  <a:tcPr marL="73152" marR="73152" marT="36576" marB="36576" anchor="ctr">
                    <a:solidFill>
                      <a:srgbClr val="172435"/>
                    </a:solidFill>
                  </a:tcPr>
                </a:tc>
                <a:extLst>
                  <a:ext uri="{0D108BD9-81ED-4DB2-BD59-A6C34878D82A}">
                    <a16:rowId xmlns:a16="http://schemas.microsoft.com/office/drawing/2014/main" val="10000"/>
                  </a:ext>
                </a:extLst>
              </a:tr>
              <a:tr h="475488">
                <a:tc>
                  <a:txBody>
                    <a:bodyPr/>
                    <a:lstStyle/>
                    <a:p>
                      <a:pPr algn="l"/>
                      <a:r>
                        <a:rPr sz="1300" b="0">
                          <a:solidFill>
                            <a:srgbClr val="F3F6F8"/>
                          </a:solidFill>
                          <a:latin typeface="Calibri"/>
                        </a:rPr>
                        <a:t>gpt-oss-120b</a:t>
                      </a:r>
                    </a:p>
                  </a:txBody>
                  <a:tcPr marL="73152" marR="73152" marT="32004" marB="32004" anchor="ctr">
                    <a:solidFill>
                      <a:srgbClr val="121D2B"/>
                    </a:solidFill>
                  </a:tcPr>
                </a:tc>
                <a:tc>
                  <a:txBody>
                    <a:bodyPr/>
                    <a:lstStyle/>
                    <a:p>
                      <a:pPr algn="ctr"/>
                      <a:r>
                        <a:rPr sz="1300" b="0">
                          <a:solidFill>
                            <a:srgbClr val="F3F6F8"/>
                          </a:solidFill>
                          <a:latin typeface="Calibri"/>
                        </a:rPr>
                        <a:t>Supervisor</a:t>
                      </a:r>
                    </a:p>
                  </a:txBody>
                  <a:tcPr marL="73152" marR="73152" marT="32004" marB="32004" anchor="ctr">
                    <a:solidFill>
                      <a:srgbClr val="121D2B"/>
                    </a:solidFill>
                  </a:tcPr>
                </a:tc>
                <a:tc>
                  <a:txBody>
                    <a:bodyPr/>
                    <a:lstStyle/>
                    <a:p>
                      <a:pPr algn="ctr"/>
                      <a:r>
                        <a:rPr sz="1300" b="0">
                          <a:solidFill>
                            <a:srgbClr val="F3F6F8"/>
                          </a:solidFill>
                          <a:latin typeface="Calibri"/>
                        </a:rPr>
                        <a:t>0.15</a:t>
                      </a:r>
                    </a:p>
                  </a:txBody>
                  <a:tcPr marL="73152" marR="73152" marT="32004" marB="32004" anchor="ctr">
                    <a:solidFill>
                      <a:srgbClr val="121D2B"/>
                    </a:solidFill>
                  </a:tcPr>
                </a:tc>
                <a:tc>
                  <a:txBody>
                    <a:bodyPr/>
                    <a:lstStyle/>
                    <a:p>
                      <a:pPr algn="ctr"/>
                      <a:r>
                        <a:rPr sz="1300" b="0">
                          <a:solidFill>
                            <a:srgbClr val="F3F6F8"/>
                          </a:solidFill>
                          <a:latin typeface="Calibri"/>
                        </a:rPr>
                        <a:t>0.60</a:t>
                      </a:r>
                    </a:p>
                  </a:txBody>
                  <a:tcPr marL="73152" marR="73152" marT="32004" marB="32004" anchor="ctr">
                    <a:solidFill>
                      <a:srgbClr val="121D2B"/>
                    </a:solidFill>
                  </a:tcPr>
                </a:tc>
                <a:extLst>
                  <a:ext uri="{0D108BD9-81ED-4DB2-BD59-A6C34878D82A}">
                    <a16:rowId xmlns:a16="http://schemas.microsoft.com/office/drawing/2014/main" val="10001"/>
                  </a:ext>
                </a:extLst>
              </a:tr>
              <a:tr h="475488">
                <a:tc>
                  <a:txBody>
                    <a:bodyPr/>
                    <a:lstStyle/>
                    <a:p>
                      <a:pPr algn="l"/>
                      <a:r>
                        <a:rPr sz="1300" b="0">
                          <a:solidFill>
                            <a:srgbClr val="F3F6F8"/>
                          </a:solidFill>
                          <a:latin typeface="Calibri"/>
                        </a:rPr>
                        <a:t>gpt-oss-safeguard-20b</a:t>
                      </a:r>
                    </a:p>
                  </a:txBody>
                  <a:tcPr marL="73152" marR="73152" marT="32004" marB="32004" anchor="ctr">
                    <a:solidFill>
                      <a:srgbClr val="121D2B"/>
                    </a:solidFill>
                  </a:tcPr>
                </a:tc>
                <a:tc>
                  <a:txBody>
                    <a:bodyPr/>
                    <a:lstStyle/>
                    <a:p>
                      <a:pPr algn="ctr"/>
                      <a:r>
                        <a:rPr sz="1300" b="0">
                          <a:solidFill>
                            <a:srgbClr val="F3F6F8"/>
                          </a:solidFill>
                          <a:latin typeface="Calibri"/>
                        </a:rPr>
                        <a:t>Guardrails, judge</a:t>
                      </a:r>
                    </a:p>
                  </a:txBody>
                  <a:tcPr marL="73152" marR="73152" marT="32004" marB="32004" anchor="ctr">
                    <a:solidFill>
                      <a:srgbClr val="121D2B"/>
                    </a:solidFill>
                  </a:tcPr>
                </a:tc>
                <a:tc>
                  <a:txBody>
                    <a:bodyPr/>
                    <a:lstStyle/>
                    <a:p>
                      <a:pPr algn="ctr"/>
                      <a:r>
                        <a:rPr sz="1300" b="0">
                          <a:solidFill>
                            <a:srgbClr val="F3F6F8"/>
                          </a:solidFill>
                          <a:latin typeface="Calibri"/>
                        </a:rPr>
                        <a:t>0.075</a:t>
                      </a:r>
                    </a:p>
                  </a:txBody>
                  <a:tcPr marL="73152" marR="73152" marT="32004" marB="32004" anchor="ctr">
                    <a:solidFill>
                      <a:srgbClr val="121D2B"/>
                    </a:solidFill>
                  </a:tcPr>
                </a:tc>
                <a:tc>
                  <a:txBody>
                    <a:bodyPr/>
                    <a:lstStyle/>
                    <a:p>
                      <a:pPr algn="ctr"/>
                      <a:r>
                        <a:rPr sz="1300" b="0">
                          <a:solidFill>
                            <a:srgbClr val="F3F6F8"/>
                          </a:solidFill>
                          <a:latin typeface="Calibri"/>
                        </a:rPr>
                        <a:t>0.30</a:t>
                      </a:r>
                    </a:p>
                  </a:txBody>
                  <a:tcPr marL="73152" marR="73152" marT="32004" marB="32004" anchor="ctr">
                    <a:solidFill>
                      <a:srgbClr val="121D2B"/>
                    </a:solidFill>
                  </a:tcPr>
                </a:tc>
                <a:extLst>
                  <a:ext uri="{0D108BD9-81ED-4DB2-BD59-A6C34878D82A}">
                    <a16:rowId xmlns:a16="http://schemas.microsoft.com/office/drawing/2014/main" val="10002"/>
                  </a:ext>
                </a:extLst>
              </a:tr>
              <a:tr h="475488">
                <a:tc>
                  <a:txBody>
                    <a:bodyPr/>
                    <a:lstStyle/>
                    <a:p>
                      <a:pPr algn="l"/>
                      <a:r>
                        <a:rPr sz="1300" b="0">
                          <a:solidFill>
                            <a:srgbClr val="F3F6F8"/>
                          </a:solidFill>
                          <a:latin typeface="Calibri"/>
                        </a:rPr>
                        <a:t>qwen3.6-27b</a:t>
                      </a:r>
                    </a:p>
                  </a:txBody>
                  <a:tcPr marL="73152" marR="73152" marT="32004" marB="32004" anchor="ctr">
                    <a:solidFill>
                      <a:srgbClr val="121D2B"/>
                    </a:solidFill>
                  </a:tcPr>
                </a:tc>
                <a:tc>
                  <a:txBody>
                    <a:bodyPr/>
                    <a:lstStyle/>
                    <a:p>
                      <a:pPr algn="ctr"/>
                      <a:r>
                        <a:rPr sz="1300" b="0">
                          <a:solidFill>
                            <a:srgbClr val="F3F6F8"/>
                          </a:solidFill>
                          <a:latin typeface="Calibri"/>
                        </a:rPr>
                        <a:t>Coding, wiring</a:t>
                      </a:r>
                    </a:p>
                  </a:txBody>
                  <a:tcPr marL="73152" marR="73152" marT="32004" marB="32004" anchor="ctr">
                    <a:solidFill>
                      <a:srgbClr val="121D2B"/>
                    </a:solidFill>
                  </a:tcPr>
                </a:tc>
                <a:tc>
                  <a:txBody>
                    <a:bodyPr/>
                    <a:lstStyle/>
                    <a:p>
                      <a:pPr algn="ctr"/>
                      <a:r>
                        <a:rPr sz="1300" b="0">
                          <a:solidFill>
                            <a:srgbClr val="F3F6F8"/>
                          </a:solidFill>
                          <a:latin typeface="Calibri"/>
                        </a:rPr>
                        <a:t>0.60</a:t>
                      </a:r>
                    </a:p>
                  </a:txBody>
                  <a:tcPr marL="73152" marR="73152" marT="32004" marB="32004" anchor="ctr">
                    <a:solidFill>
                      <a:srgbClr val="121D2B"/>
                    </a:solidFill>
                  </a:tcPr>
                </a:tc>
                <a:tc>
                  <a:txBody>
                    <a:bodyPr/>
                    <a:lstStyle/>
                    <a:p>
                      <a:pPr algn="ctr"/>
                      <a:r>
                        <a:rPr sz="1300" b="0">
                          <a:solidFill>
                            <a:srgbClr val="F3F6F8"/>
                          </a:solidFill>
                          <a:latin typeface="Calibri"/>
                        </a:rPr>
                        <a:t>3.00</a:t>
                      </a:r>
                    </a:p>
                  </a:txBody>
                  <a:tcPr marL="73152" marR="73152" marT="32004" marB="32004" anchor="ctr">
                    <a:solidFill>
                      <a:srgbClr val="121D2B"/>
                    </a:solidFill>
                  </a:tcPr>
                </a:tc>
                <a:extLst>
                  <a:ext uri="{0D108BD9-81ED-4DB2-BD59-A6C34878D82A}">
                    <a16:rowId xmlns:a16="http://schemas.microsoft.com/office/drawing/2014/main" val="10003"/>
                  </a:ext>
                </a:extLst>
              </a:tr>
              <a:tr h="475488">
                <a:tc>
                  <a:txBody>
                    <a:bodyPr/>
                    <a:lstStyle/>
                    <a:p>
                      <a:pPr algn="l"/>
                      <a:r>
                        <a:rPr sz="1300" b="0">
                          <a:solidFill>
                            <a:srgbClr val="F3F6F8"/>
                          </a:solidFill>
                          <a:latin typeface="Calibri"/>
                        </a:rPr>
                        <a:t>gemini-3.1-flash-lite</a:t>
                      </a:r>
                    </a:p>
                  </a:txBody>
                  <a:tcPr marL="73152" marR="73152" marT="32004" marB="32004" anchor="ctr">
                    <a:solidFill>
                      <a:srgbClr val="121D2B"/>
                    </a:solidFill>
                  </a:tcPr>
                </a:tc>
                <a:tc>
                  <a:txBody>
                    <a:bodyPr/>
                    <a:lstStyle/>
                    <a:p>
                      <a:pPr algn="ctr"/>
                      <a:r>
                        <a:rPr sz="1300" b="0">
                          <a:solidFill>
                            <a:srgbClr val="F3F6F8"/>
                          </a:solidFill>
                          <a:latin typeface="Calibri"/>
                        </a:rPr>
                        <a:t>RAG, visualization</a:t>
                      </a:r>
                    </a:p>
                  </a:txBody>
                  <a:tcPr marL="73152" marR="73152" marT="32004" marB="32004" anchor="ctr">
                    <a:solidFill>
                      <a:srgbClr val="121D2B"/>
                    </a:solidFill>
                  </a:tcPr>
                </a:tc>
                <a:tc>
                  <a:txBody>
                    <a:bodyPr/>
                    <a:lstStyle/>
                    <a:p>
                      <a:pPr algn="ctr"/>
                      <a:r>
                        <a:rPr sz="1300" b="0">
                          <a:solidFill>
                            <a:srgbClr val="F3F6F8"/>
                          </a:solidFill>
                          <a:latin typeface="Calibri"/>
                        </a:rPr>
                        <a:t>0.25</a:t>
                      </a:r>
                    </a:p>
                  </a:txBody>
                  <a:tcPr marL="73152" marR="73152" marT="32004" marB="32004" anchor="ctr">
                    <a:solidFill>
                      <a:srgbClr val="121D2B"/>
                    </a:solidFill>
                  </a:tcPr>
                </a:tc>
                <a:tc>
                  <a:txBody>
                    <a:bodyPr/>
                    <a:lstStyle/>
                    <a:p>
                      <a:pPr algn="ctr"/>
                      <a:r>
                        <a:rPr sz="1300" b="0">
                          <a:solidFill>
                            <a:srgbClr val="F3F6F8"/>
                          </a:solidFill>
                          <a:latin typeface="Calibri"/>
                        </a:rPr>
                        <a:t>1.50</a:t>
                      </a:r>
                    </a:p>
                  </a:txBody>
                  <a:tcPr marL="73152" marR="73152" marT="32004" marB="32004" anchor="ctr">
                    <a:solidFill>
                      <a:srgbClr val="121D2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21" name="TextBox 20"/>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18</a:t>
            </a:r>
          </a:p>
        </p:txBody>
      </p:sp>
      <p:cxnSp>
        <p:nvCxnSpPr>
          <p:cNvPr id="22" name="Connector 21"/>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8623" y="4959637"/>
            <a:ext cx="5305695" cy="1417320"/>
          </a:xfrm>
          <a:prstGeom prst="rect">
            <a:avLst/>
          </a:prstGeom>
          <a:noFill/>
        </p:spPr>
        <p:txBody>
          <a:bodyPr wrap="none">
            <a:spAutoFit/>
          </a:bodyPr>
          <a:lstStyle/>
          <a:p>
            <a:r>
              <a:rPr sz="1200" b="1">
                <a:solidFill>
                  <a:srgbClr val="F3F6F8"/>
                </a:solidFill>
                <a:latin typeface="Calibri"/>
              </a:rPr>
              <a:t>Observed</a:t>
            </a:r>
          </a:p>
          <a:p>
            <a:r>
              <a:rPr sz="1000" b="0">
                <a:solidFill>
                  <a:srgbClr val="92A2B3"/>
                </a:solidFill>
                <a:latin typeface="Calibri"/>
              </a:rPr>
              <a:t>cost is tracked per case via a LangChain usage callback, priced at live provider rates — a model missing from the pricing table reports null, never a silent $0.</a:t>
            </a:r>
          </a:p>
          <a:p>
            <a:r>
              <a:rPr sz="1200" b="1">
                <a:solidFill>
                  <a:srgbClr val="F3F6F8"/>
                </a:solidFill>
                <a:latin typeface="Calibri"/>
              </a:rPr>
              <a:t>Held flat under tighter checks</a:t>
            </a:r>
          </a:p>
          <a:p>
            <a:r>
              <a:rPr sz="1000" b="0">
                <a:solidFill>
                  <a:srgbClr val="92A2B3"/>
                </a:solidFill>
                <a:latin typeface="Calibri"/>
              </a:rPr>
              <a:t>mean cost/case ($0.0056) and step-efficiency (1.00, no wasted iterations) stayed stable even as routing/tool accuracy rose to 100%.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WHAT’S NEXT</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Where the eval and the system still have room to grow</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7" y="2350008"/>
            <a:ext cx="5486400" cy="1494896"/>
          </a:xfrm>
          <a:prstGeom prst="rect">
            <a:avLst/>
          </a:prstGeom>
          <a:noFill/>
        </p:spPr>
        <p:txBody>
          <a:bodyPr wrap="square" lIns="0" tIns="0" rIns="0" bIns="0" anchor="t">
            <a:spAutoFit/>
          </a:bodyPr>
          <a:lstStyle/>
          <a:p>
            <a:pPr marL="256032" indent="-256032" algn="l">
              <a:lnSpc>
                <a:spcPct val="115000"/>
              </a:lnSpc>
              <a:spcAft>
                <a:spcPts val="200"/>
              </a:spcAft>
              <a:buFont typeface="Calibri"/>
              <a:buChar char="›"/>
            </a:pPr>
            <a:r>
              <a:rPr sz="1450" b="1" dirty="0">
                <a:solidFill>
                  <a:srgbClr val="F3F6F8"/>
                </a:solidFill>
                <a:latin typeface="Calibri"/>
              </a:rPr>
              <a:t>Specialist-level datasets</a:t>
            </a:r>
          </a:p>
          <a:p>
            <a:pPr algn="l">
              <a:lnSpc>
                <a:spcPct val="115000"/>
              </a:lnSpc>
              <a:spcAft>
                <a:spcPts val="1000"/>
              </a:spcAft>
            </a:pPr>
            <a:r>
              <a:rPr sz="1150" b="0" dirty="0">
                <a:solidFill>
                  <a:srgbClr val="92A2B3"/>
                </a:solidFill>
                <a:latin typeface="Calibri"/>
              </a:rPr>
              <a:t>Grounded factual accuracy for RAG, compile/behavioral checks for coding, geometric + render checks for visualization — separating orchestration quality from answer quality.</a:t>
            </a:r>
          </a:p>
          <a:p>
            <a:pPr marL="256032" indent="-256032" algn="l">
              <a:lnSpc>
                <a:spcPct val="115000"/>
              </a:lnSpc>
              <a:spcAft>
                <a:spcPts val="200"/>
              </a:spcAft>
              <a:buFont typeface="Calibri"/>
              <a:buChar char="›"/>
            </a:pPr>
            <a:r>
              <a:rPr sz="1450" b="1" dirty="0">
                <a:solidFill>
                  <a:srgbClr val="F3F6F8"/>
                </a:solidFill>
                <a:latin typeface="Calibri"/>
              </a:rPr>
              <a:t>Cross-framework comparison</a:t>
            </a:r>
          </a:p>
          <a:p>
            <a:pPr algn="l">
              <a:lnSpc>
                <a:spcPct val="115000"/>
              </a:lnSpc>
              <a:spcAft>
                <a:spcPts val="1000"/>
              </a:spcAft>
            </a:pPr>
            <a:r>
              <a:rPr sz="1150" b="0" dirty="0">
                <a:solidFill>
                  <a:srgbClr val="92A2B3"/>
                </a:solidFill>
                <a:latin typeface="Calibri"/>
              </a:rPr>
              <a:t>Benchmark </a:t>
            </a:r>
            <a:r>
              <a:rPr sz="1150" b="0" dirty="0" err="1">
                <a:solidFill>
                  <a:srgbClr val="92A2B3"/>
                </a:solidFill>
                <a:latin typeface="Calibri"/>
              </a:rPr>
              <a:t>LangGraph</a:t>
            </a:r>
            <a:r>
              <a:rPr sz="1150" b="0" dirty="0">
                <a:solidFill>
                  <a:srgbClr val="92A2B3"/>
                </a:solidFill>
                <a:latin typeface="Calibri"/>
              </a:rPr>
              <a:t> against alternatives on routing clarity, HITL support, observability and recovery, not a feature checklist.</a:t>
            </a:r>
          </a:p>
        </p:txBody>
      </p:sp>
      <p:sp>
        <p:nvSpPr>
          <p:cNvPr id="7" name="TextBox 6"/>
          <p:cNvSpPr txBox="1"/>
          <p:nvPr/>
        </p:nvSpPr>
        <p:spPr>
          <a:xfrm>
            <a:off x="6415887" y="2475812"/>
            <a:ext cx="5349240" cy="1494896"/>
          </a:xfrm>
          <a:prstGeom prst="rect">
            <a:avLst/>
          </a:prstGeom>
          <a:noFill/>
        </p:spPr>
        <p:txBody>
          <a:bodyPr wrap="square" lIns="0" tIns="0" rIns="0" bIns="0" anchor="t">
            <a:spAutoFit/>
          </a:bodyPr>
          <a:lstStyle/>
          <a:p>
            <a:pPr marL="256032" indent="-256032" algn="l">
              <a:lnSpc>
                <a:spcPct val="115000"/>
              </a:lnSpc>
              <a:spcAft>
                <a:spcPts val="200"/>
              </a:spcAft>
              <a:buFont typeface="Calibri"/>
              <a:buChar char="›"/>
            </a:pPr>
            <a:r>
              <a:rPr sz="1450" b="1" dirty="0">
                <a:solidFill>
                  <a:srgbClr val="F3F6F8"/>
                </a:solidFill>
                <a:latin typeface="Calibri"/>
              </a:rPr>
              <a:t>Shared cross-service state</a:t>
            </a:r>
          </a:p>
          <a:p>
            <a:pPr algn="l">
              <a:lnSpc>
                <a:spcPct val="115000"/>
              </a:lnSpc>
              <a:spcAft>
                <a:spcPts val="1000"/>
              </a:spcAft>
            </a:pPr>
            <a:r>
              <a:rPr sz="1150" b="0" dirty="0">
                <a:solidFill>
                  <a:srgbClr val="92A2B3"/>
                </a:solidFill>
                <a:latin typeface="Calibri"/>
              </a:rPr>
              <a:t>System A and System B each keep their own SQLite file today, joined only by hand-carried IDs — a shared store would enable real cross-service queries.</a:t>
            </a:r>
          </a:p>
          <a:p>
            <a:pPr marL="256032" indent="-256032" algn="l">
              <a:lnSpc>
                <a:spcPct val="115000"/>
              </a:lnSpc>
              <a:spcAft>
                <a:spcPts val="200"/>
              </a:spcAft>
              <a:buFont typeface="Calibri"/>
              <a:buChar char="›"/>
            </a:pPr>
            <a:r>
              <a:rPr sz="1450" b="1" dirty="0">
                <a:solidFill>
                  <a:srgbClr val="F3F6F8"/>
                </a:solidFill>
                <a:latin typeface="Calibri"/>
              </a:rPr>
              <a:t>Multimodal answer normalization</a:t>
            </a:r>
          </a:p>
          <a:p>
            <a:pPr algn="l">
              <a:lnSpc>
                <a:spcPct val="115000"/>
              </a:lnSpc>
              <a:spcAft>
                <a:spcPts val="1000"/>
              </a:spcAft>
            </a:pPr>
            <a:r>
              <a:rPr sz="1150" b="0" dirty="0">
                <a:solidFill>
                  <a:srgbClr val="92A2B3"/>
                </a:solidFill>
                <a:latin typeface="Calibri"/>
              </a:rPr>
              <a:t>Flatten Gemini content blocks to plain text everywhere before they reach storage or the final response.</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19</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121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2286000"/>
            <a:ext cx="1188720" cy="5080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14600"/>
            <a:ext cx="10515600" cy="1463040"/>
          </a:xfrm>
          <a:prstGeom prst="rect">
            <a:avLst/>
          </a:prstGeom>
          <a:noFill/>
        </p:spPr>
        <p:txBody>
          <a:bodyPr wrap="square" lIns="0" tIns="0" rIns="0" bIns="0" anchor="t">
            <a:spAutoFit/>
          </a:bodyPr>
          <a:lstStyle/>
          <a:p>
            <a:pPr algn="l">
              <a:lnSpc>
                <a:spcPct val="100000"/>
              </a:lnSpc>
              <a:spcAft>
                <a:spcPts val="0"/>
              </a:spcAft>
            </a:pPr>
            <a:r>
              <a:rPr sz="3400" b="1">
                <a:solidFill>
                  <a:srgbClr val="F3F6F8"/>
                </a:solidFill>
                <a:latin typeface="Calibri"/>
              </a:rPr>
              <a:t>From a question to a working, ordered robot —</a:t>
            </a:r>
          </a:p>
          <a:p>
            <a:pPr algn="l">
              <a:lnSpc>
                <a:spcPct val="100000"/>
              </a:lnSpc>
              <a:spcAft>
                <a:spcPts val="0"/>
              </a:spcAft>
            </a:pPr>
            <a:r>
              <a:rPr sz="3400" b="1">
                <a:solidFill>
                  <a:srgbClr val="33DDC2"/>
                </a:solidFill>
                <a:latin typeface="Calibri"/>
              </a:rPr>
              <a:t>one conversation, fully audited.</a:t>
            </a:r>
          </a:p>
        </p:txBody>
      </p:sp>
      <p:sp>
        <p:nvSpPr>
          <p:cNvPr id="6" name="TextBox 5"/>
          <p:cNvSpPr txBox="1"/>
          <p:nvPr/>
        </p:nvSpPr>
        <p:spPr>
          <a:xfrm>
            <a:off x="502920" y="3977639"/>
            <a:ext cx="9601200" cy="822960"/>
          </a:xfrm>
          <a:prstGeom prst="rect">
            <a:avLst/>
          </a:prstGeom>
          <a:noFill/>
        </p:spPr>
        <p:txBody>
          <a:bodyPr wrap="square" lIns="0" tIns="0" rIns="0" bIns="0" anchor="t">
            <a:spAutoFit/>
          </a:bodyPr>
          <a:lstStyle/>
          <a:p>
            <a:pPr algn="l">
              <a:lnSpc>
                <a:spcPct val="135000"/>
              </a:lnSpc>
              <a:spcAft>
                <a:spcPts val="0"/>
              </a:spcAft>
            </a:pPr>
            <a:r>
              <a:rPr sz="1600" b="0">
                <a:solidFill>
                  <a:srgbClr val="92A2B3"/>
                </a:solidFill>
                <a:latin typeface="Calibri"/>
              </a:rPr>
              <a:t>Measured at 100% routing and guardrail accuracy, 93.3% task completion, and a fraction of a cent per request — with a human approving every write, render and purchase.</a:t>
            </a:r>
          </a:p>
        </p:txBody>
      </p:sp>
      <p:sp>
        <p:nvSpPr>
          <p:cNvPr id="7" name="TextBox 6"/>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Robotics Multi-Agent Assistant</a:t>
            </a:r>
          </a:p>
        </p:txBody>
      </p:sp>
      <p:sp>
        <p:nvSpPr>
          <p:cNvPr id="8" name="TextBox 7"/>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20</a:t>
            </a:r>
          </a:p>
        </p:txBody>
      </p:sp>
      <p:cxnSp>
        <p:nvCxnSpPr>
          <p:cNvPr id="9" name="Connector 8"/>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502920"/>
            <a:ext cx="9144000" cy="320040"/>
          </a:xfrm>
          <a:prstGeom prst="rect">
            <a:avLst/>
          </a:prstGeom>
          <a:noFill/>
        </p:spPr>
        <p:txBody>
          <a:bodyPr wrap="square" lIns="0" tIns="0" rIns="0" bIns="0" anchor="t">
            <a:spAutoFit/>
          </a:bodyPr>
          <a:lstStyle/>
          <a:p>
            <a:pPr algn="l">
              <a:lnSpc>
                <a:spcPct val="100000"/>
              </a:lnSpc>
              <a:spcAft>
                <a:spcPts val="0"/>
              </a:spcAft>
            </a:pPr>
            <a:r>
              <a:rPr sz="1300" b="1">
                <a:solidFill>
                  <a:srgbClr val="33DDC2"/>
                </a:solidFill>
                <a:latin typeface="Calibri"/>
              </a:rPr>
              <a:t>AGENT EVALUATION — HELD-OUT VALIDATION</a:t>
            </a:r>
          </a:p>
        </p:txBody>
      </p:sp>
      <p:sp>
        <p:nvSpPr>
          <p:cNvPr id="4" name="TextBox 3"/>
          <p:cNvSpPr txBox="1"/>
          <p:nvPr/>
        </p:nvSpPr>
        <p:spPr>
          <a:xfrm>
            <a:off x="502920" y="822960"/>
            <a:ext cx="10972800" cy="822960"/>
          </a:xfrm>
          <a:prstGeom prst="rect">
            <a:avLst/>
          </a:prstGeom>
          <a:noFill/>
        </p:spPr>
        <p:txBody>
          <a:bodyPr wrap="square" lIns="0" tIns="0" rIns="0" bIns="0" anchor="t">
            <a:spAutoFit/>
          </a:bodyPr>
          <a:lstStyle/>
          <a:p>
            <a:pPr algn="l">
              <a:lnSpc>
                <a:spcPct val="100000"/>
              </a:lnSpc>
              <a:spcAft>
                <a:spcPts val="0"/>
              </a:spcAft>
            </a:pPr>
            <a:r>
              <a:rPr sz="3200" b="1">
                <a:solidFill>
                  <a:srgbClr val="F3F6F8"/>
                </a:solidFill>
                <a:latin typeface="Calibri"/>
              </a:rPr>
              <a:t>Is the 100% real, or fit to the 28 cases we iterated against?</a:t>
            </a:r>
          </a:p>
        </p:txBody>
      </p:sp>
      <p:sp>
        <p:nvSpPr>
          <p:cNvPr id="5" name="Rectangle 4"/>
          <p:cNvSpPr/>
          <p:nvPr/>
        </p:nvSpPr>
        <p:spPr>
          <a:xfrm>
            <a:off x="521207" y="1527048"/>
            <a:ext cx="822960" cy="44450"/>
          </a:xfrm>
          <a:prstGeom prst="rect">
            <a:avLst/>
          </a:prstGeom>
          <a:solidFill>
            <a:srgbClr val="33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874519"/>
          <a:ext cx="6675118" cy="1371600"/>
        </p:xfrm>
        <a:graphic>
          <a:graphicData uri="http://schemas.openxmlformats.org/drawingml/2006/table">
            <a:tbl>
              <a:tblPr>
                <a:tableStyleId>{5C22544A-7EE6-4342-B048-85BDC9FD1C3A}</a:tableStyleId>
              </a:tblPr>
              <a:tblGrid>
                <a:gridCol w="3384567">
                  <a:extLst>
                    <a:ext uri="{9D8B030D-6E8A-4147-A177-3AD203B41FA5}">
                      <a16:colId xmlns:a16="http://schemas.microsoft.com/office/drawing/2014/main" val="20000"/>
                    </a:ext>
                  </a:extLst>
                </a:gridCol>
                <a:gridCol w="1880315">
                  <a:extLst>
                    <a:ext uri="{9D8B030D-6E8A-4147-A177-3AD203B41FA5}">
                      <a16:colId xmlns:a16="http://schemas.microsoft.com/office/drawing/2014/main" val="20001"/>
                    </a:ext>
                  </a:extLst>
                </a:gridCol>
                <a:gridCol w="1410236">
                  <a:extLst>
                    <a:ext uri="{9D8B030D-6E8A-4147-A177-3AD203B41FA5}">
                      <a16:colId xmlns:a16="http://schemas.microsoft.com/office/drawing/2014/main" val="20002"/>
                    </a:ext>
                  </a:extLst>
                </a:gridCol>
              </a:tblGrid>
              <a:tr h="457200">
                <a:tc>
                  <a:txBody>
                    <a:bodyPr/>
                    <a:lstStyle/>
                    <a:p>
                      <a:r>
                        <a:t>Dataset (cases)</a:t>
                      </a:r>
                    </a:p>
                  </a:txBody>
                  <a:tcPr marL="73152" marR="73152" marT="36576" marB="36576" anchor="ctr">
                    <a:solidFill>
                      <a:srgbClr val="172435"/>
                    </a:solidFill>
                  </a:tcPr>
                </a:tc>
                <a:tc>
                  <a:txBody>
                    <a:bodyPr/>
                    <a:lstStyle/>
                    <a:p>
                      <a:r>
                        <a:t>Case Pass</a:t>
                      </a:r>
                    </a:p>
                  </a:txBody>
                  <a:tcPr marL="73152" marR="73152" marT="36576" marB="36576" anchor="ctr">
                    <a:solidFill>
                      <a:srgbClr val="172435"/>
                    </a:solidFill>
                  </a:tcPr>
                </a:tc>
                <a:tc>
                  <a:txBody>
                    <a:bodyPr/>
                    <a:lstStyle/>
                    <a:p>
                      <a:r>
                        <a:t>Route Acc.</a:t>
                      </a:r>
                    </a:p>
                  </a:txBody>
                  <a:tcPr marL="73152" marR="73152" marT="36576" marB="36576" anchor="ctr">
                    <a:solidFill>
                      <a:srgbClr val="172435"/>
                    </a:solidFill>
                  </a:tcPr>
                </a:tc>
                <a:extLst>
                  <a:ext uri="{0D108BD9-81ED-4DB2-BD59-A6C34878D82A}">
                    <a16:rowId xmlns:a16="http://schemas.microsoft.com/office/drawing/2014/main" val="10000"/>
                  </a:ext>
                </a:extLst>
              </a:tr>
              <a:tr h="457200">
                <a:tc>
                  <a:txBody>
                    <a:bodyPr/>
                    <a:lstStyle/>
                    <a:p>
                      <a:r>
                        <a:t>Main set — iterated against (28)</a:t>
                      </a:r>
                    </a:p>
                  </a:txBody>
                  <a:tcPr marL="73152" marR="73152" marT="32004" marB="32004" anchor="ctr">
                    <a:solidFill>
                      <a:srgbClr val="0F2E2A"/>
                    </a:solidFill>
                  </a:tcPr>
                </a:tc>
                <a:tc>
                  <a:txBody>
                    <a:bodyPr/>
                    <a:lstStyle/>
                    <a:p>
                      <a:r>
                        <a:t>100%</a:t>
                      </a:r>
                    </a:p>
                  </a:txBody>
                  <a:tcPr marL="73152" marR="73152" marT="32004" marB="32004" anchor="ctr">
                    <a:solidFill>
                      <a:srgbClr val="0F2E2A"/>
                    </a:solidFill>
                  </a:tcPr>
                </a:tc>
                <a:tc>
                  <a:txBody>
                    <a:bodyPr/>
                    <a:lstStyle/>
                    <a:p>
                      <a:r>
                        <a:t>100%</a:t>
                      </a:r>
                    </a:p>
                  </a:txBody>
                  <a:tcPr marL="73152" marR="73152" marT="32004" marB="32004" anchor="ctr">
                    <a:solidFill>
                      <a:srgbClr val="0F2E2A"/>
                    </a:solidFill>
                  </a:tcPr>
                </a:tc>
                <a:extLst>
                  <a:ext uri="{0D108BD9-81ED-4DB2-BD59-A6C34878D82A}">
                    <a16:rowId xmlns:a16="http://schemas.microsoft.com/office/drawing/2014/main" val="10001"/>
                  </a:ext>
                </a:extLst>
              </a:tr>
              <a:tr h="457200">
                <a:tc>
                  <a:txBody>
                    <a:bodyPr/>
                    <a:lstStyle/>
                    <a:p>
                      <a:r>
                        <a:t>Held-out set — new components/boards (41)</a:t>
                      </a:r>
                    </a:p>
                  </a:txBody>
                  <a:tcPr marL="73152" marR="73152" marT="32004" marB="32004" anchor="ctr">
                    <a:solidFill>
                      <a:srgbClr val="121D2B"/>
                    </a:solidFill>
                  </a:tcPr>
                </a:tc>
                <a:tc>
                  <a:txBody>
                    <a:bodyPr/>
                    <a:lstStyle/>
                    <a:p>
                      <a:r>
                        <a:t>95.1%</a:t>
                      </a:r>
                    </a:p>
                  </a:txBody>
                  <a:tcPr marL="73152" marR="73152" marT="32004" marB="32004" anchor="ctr">
                    <a:solidFill>
                      <a:srgbClr val="121D2B"/>
                    </a:solidFill>
                  </a:tcPr>
                </a:tc>
                <a:tc>
                  <a:txBody>
                    <a:bodyPr/>
                    <a:lstStyle/>
                    <a:p>
                      <a:r>
                        <a:t>97.6%</a:t>
                      </a:r>
                    </a:p>
                  </a:txBody>
                  <a:tcPr marL="73152" marR="73152" marT="32004" marB="32004" anchor="ctr">
                    <a:solidFill>
                      <a:srgbClr val="121D2B"/>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7452360" y="1874519"/>
            <a:ext cx="4251960" cy="4206240"/>
          </a:xfrm>
          <a:prstGeom prst="rect">
            <a:avLst/>
          </a:prstGeom>
          <a:noFill/>
        </p:spPr>
        <p:txBody>
          <a:bodyPr wrap="square" lIns="0" tIns="0" rIns="0" bIns="0" anchor="t">
            <a:spAutoFit/>
          </a:bodyPr>
          <a:lstStyle/>
          <a:p>
            <a:pPr marL="256032" indent="-256032" algn="l">
              <a:lnSpc>
                <a:spcPct val="115000"/>
              </a:lnSpc>
              <a:spcAft>
                <a:spcPts val="200"/>
              </a:spcAft>
              <a:buFont typeface="Calibri"/>
              <a:buChar char="›"/>
            </a:pPr>
            <a:r>
              <a:rPr sz="1350" b="1">
                <a:solidFill>
                  <a:srgbClr val="F3F6F8"/>
                </a:solidFill>
                <a:latin typeface="Calibri"/>
              </a:rPr>
              <a:t>Observed</a:t>
            </a:r>
          </a:p>
          <a:p>
            <a:r>
              <a:rPr sz="1050" b="0">
                <a:solidFill>
                  <a:srgbClr val="92A2B3"/>
                </a:solidFill>
                <a:latin typeface="Calibri"/>
              </a:rPr>
              <a:t>17 wiring cases used components/boards never touched this session (MPU6050, L298N, stepper, keypad, RFID, relay...), ground-truthed by calling the real allocator directly, not hand-predicted.</a:t>
            </a:r>
          </a:p>
          <a:p>
            <a:r>
              <a:rPr sz="1350" b="1">
                <a:solidFill>
                  <a:srgbClr val="F3F6F8"/>
                </a:solidFill>
                <a:latin typeface="Calibri"/>
              </a:rPr>
              <a:t>Improved</a:t>
            </a:r>
          </a:p>
          <a:p>
            <a:r>
              <a:rPr sz="1050" b="0">
                <a:solidFill>
                  <a:srgbClr val="92A2B3"/>
                </a:solidFill>
                <a:latin typeface="Calibri"/>
              </a:rPr>
              <a:t>found 2 real bugs the main set never caught: wiring_agent was writing firmware code inline (bypassing coding_agent's approval gate), and intermittently skipping its own required tool call. Both fixed by scoping the prompt.</a:t>
            </a:r>
          </a:p>
          <a:p>
            <a:r>
              <a:rPr sz="1350" b="1">
                <a:solidFill>
                  <a:srgbClr val="F3F6F8"/>
                </a:solidFill>
                <a:latin typeface="Calibri"/>
              </a:rPr>
              <a:t>Result</a:t>
            </a:r>
          </a:p>
          <a:p>
            <a:r>
              <a:rPr sz="1050" b="0">
                <a:solidFill>
                  <a:srgbClr val="92A2B3"/>
                </a:solidFill>
                <a:latin typeface="Calibri"/>
              </a:rPr>
              <a:t>39/41 (95.1%) after the fix, with both remaining failures fully characterized (one MCP transport flake, one test-authoring gap) — not mysterious, not hidden.</a:t>
            </a:r>
          </a:p>
        </p:txBody>
      </p:sp>
      <p:sp>
        <p:nvSpPr>
          <p:cNvPr id="8" name="TextBox 7"/>
          <p:cNvSpPr txBox="1"/>
          <p:nvPr/>
        </p:nvSpPr>
        <p:spPr>
          <a:xfrm>
            <a:off x="502920" y="6510528"/>
            <a:ext cx="5486400" cy="274320"/>
          </a:xfrm>
          <a:prstGeom prst="rect">
            <a:avLst/>
          </a:prstGeom>
          <a:noFill/>
        </p:spPr>
        <p:txBody>
          <a:bodyPr wrap="square" lIns="0" tIns="0" rIns="0" bIns="0" anchor="t">
            <a:spAutoFit/>
          </a:bodyPr>
          <a:lstStyle/>
          <a:p>
            <a:pPr algn="l">
              <a:lnSpc>
                <a:spcPct val="100000"/>
              </a:lnSpc>
              <a:spcAft>
                <a:spcPts val="0"/>
              </a:spcAft>
            </a:pPr>
            <a:r>
              <a:rPr sz="1000" b="0">
                <a:solidFill>
                  <a:srgbClr val="92A2B3"/>
                </a:solidFill>
                <a:latin typeface="Calibri"/>
              </a:rPr>
              <a:t>Evaluation</a:t>
            </a:r>
          </a:p>
        </p:txBody>
      </p:sp>
      <p:sp>
        <p:nvSpPr>
          <p:cNvPr id="9" name="TextBox 8"/>
          <p:cNvSpPr txBox="1"/>
          <p:nvPr/>
        </p:nvSpPr>
        <p:spPr>
          <a:xfrm>
            <a:off x="11064240" y="6510528"/>
            <a:ext cx="640080" cy="274320"/>
          </a:xfrm>
          <a:prstGeom prst="rect">
            <a:avLst/>
          </a:prstGeom>
          <a:noFill/>
        </p:spPr>
        <p:txBody>
          <a:bodyPr wrap="square" lIns="0" tIns="0" rIns="0" bIns="0" anchor="t">
            <a:spAutoFit/>
          </a:bodyPr>
          <a:lstStyle/>
          <a:p>
            <a:pPr algn="r">
              <a:lnSpc>
                <a:spcPct val="100000"/>
              </a:lnSpc>
              <a:spcAft>
                <a:spcPts val="0"/>
              </a:spcAft>
            </a:pPr>
            <a:r>
              <a:rPr sz="1000" b="0">
                <a:solidFill>
                  <a:srgbClr val="92A2B3"/>
                </a:solidFill>
                <a:latin typeface="Calibri"/>
              </a:rPr>
              <a:t>17</a:t>
            </a:r>
          </a:p>
        </p:txBody>
      </p:sp>
      <p:cxnSp>
        <p:nvCxnSpPr>
          <p:cNvPr id="10" name="Connector 9"/>
          <p:cNvCxnSpPr/>
          <p:nvPr/>
        </p:nvCxnSpPr>
        <p:spPr>
          <a:xfrm>
            <a:off x="502920" y="6446520"/>
            <a:ext cx="11183112" cy="0"/>
          </a:xfrm>
          <a:prstGeom prst="line">
            <a:avLst/>
          </a:prstGeom>
          <a:ln w="9525">
            <a:solidFill>
              <a:srgbClr val="28374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1899</Words>
  <Application>Microsoft Macintosh PowerPoint</Application>
  <PresentationFormat>Widescreen</PresentationFormat>
  <Paragraphs>354</Paragraphs>
  <Slides>19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Microsoft Office User</cp:lastModifiedBy>
  <cp:revision>2</cp:revision>
  <dcterms:created xsi:type="dcterms:W3CDTF">2013-01-27T09:14:16Z</dcterms:created>
  <dcterms:modified xsi:type="dcterms:W3CDTF">2026-08-21T08:47:36Z</dcterms:modified>
  <cp:category/>
</cp:coreProperties>
</file>